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9EBBCA4-0D90-4327-BABA-184757978243}">
  <a:tblStyle styleId="{F9EBBCA4-0D90-4327-BABA-184757978243}"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11" Type="http://schemas.openxmlformats.org/officeDocument/2006/relationships/slide" Target="slides/slide5.xml"/><Relationship Id="rId22" Type="http://schemas.openxmlformats.org/officeDocument/2006/relationships/slide" Target="slides/slide16.xml"/><Relationship Id="rId10" Type="http://schemas.openxmlformats.org/officeDocument/2006/relationships/slide" Target="slides/slide4.xml"/><Relationship Id="rId21" Type="http://schemas.openxmlformats.org/officeDocument/2006/relationships/slide" Target="slides/slide15.xml"/><Relationship Id="rId13" Type="http://schemas.openxmlformats.org/officeDocument/2006/relationships/slide" Target="slides/slide7.xml"/><Relationship Id="rId24" Type="http://schemas.openxmlformats.org/officeDocument/2006/relationships/slide" Target="slides/slide18.xml"/><Relationship Id="rId12" Type="http://schemas.openxmlformats.org/officeDocument/2006/relationships/slide" Target="slides/slide6.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ab5210a6ae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ab5210a6ae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ab5210a6ae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3ab5210a6ae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ab5210a6ae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ab5210a6ae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ab5210a6ae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ab5210a6ae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ab5210a6ae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ab5210a6ae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ab5210a6ae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ab5210a6ae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ab5210a6ae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ab5210a6ae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ab5210a6ae_0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ab5210a6ae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ab5210a6ae_0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ab5210a6ae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ab5210a6ae_0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ab5210a6ae_0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ab5210a6ae_0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ab5210a6ae_0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ab5210a6ae_0_1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ab5210a6ae_0_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ab5210a6ae_0_1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ab5210a6ae_0_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ab5210a6ae_0_2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ab5210a6ae_0_2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ab5210a6ae_0_2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3ab5210a6ae_0_2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ab5210a6ae_0_2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3ab5210a6ae_0_2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ab5210a6ae_0_2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3ab5210a6ae_0_2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2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dk1"/>
              </a:buClr>
              <a:buSzPts val="1800"/>
              <a:buChar char="●"/>
              <a:defRPr>
                <a:solidFill>
                  <a:schemeClr val="dk1"/>
                </a:solidFill>
              </a:defRPr>
            </a:lvl1pPr>
            <a:lvl2pPr indent="-317500" lvl="1" marL="914400">
              <a:spcBef>
                <a:spcPts val="0"/>
              </a:spcBef>
              <a:spcAft>
                <a:spcPts val="0"/>
              </a:spcAft>
              <a:buClr>
                <a:schemeClr val="dk1"/>
              </a:buClr>
              <a:buSzPts val="1400"/>
              <a:buChar char="○"/>
              <a:defRPr>
                <a:solidFill>
                  <a:schemeClr val="dk1"/>
                </a:solidFill>
              </a:defRPr>
            </a:lvl2pPr>
            <a:lvl3pPr indent="-317500" lvl="2" marL="1371600">
              <a:spcBef>
                <a:spcPts val="0"/>
              </a:spcBef>
              <a:spcAft>
                <a:spcPts val="0"/>
              </a:spcAft>
              <a:buClr>
                <a:schemeClr val="dk1"/>
              </a:buClr>
              <a:buSzPts val="1400"/>
              <a:buChar char="■"/>
              <a:defRPr>
                <a:solidFill>
                  <a:schemeClr val="dk1"/>
                </a:solidFill>
              </a:defRPr>
            </a:lvl3pPr>
            <a:lvl4pPr indent="-317500" lvl="3" marL="1828800">
              <a:spcBef>
                <a:spcPts val="0"/>
              </a:spcBef>
              <a:spcAft>
                <a:spcPts val="0"/>
              </a:spcAft>
              <a:buClr>
                <a:schemeClr val="dk1"/>
              </a:buClr>
              <a:buSzPts val="1400"/>
              <a:buChar char="●"/>
              <a:defRPr>
                <a:solidFill>
                  <a:schemeClr val="dk1"/>
                </a:solidFill>
              </a:defRPr>
            </a:lvl4pPr>
            <a:lvl5pPr indent="-317500" lvl="4" marL="2286000">
              <a:spcBef>
                <a:spcPts val="0"/>
              </a:spcBef>
              <a:spcAft>
                <a:spcPts val="0"/>
              </a:spcAft>
              <a:buClr>
                <a:schemeClr val="dk1"/>
              </a:buClr>
              <a:buSzPts val="1400"/>
              <a:buChar char="○"/>
              <a:defRPr>
                <a:solidFill>
                  <a:schemeClr val="dk1"/>
                </a:solidFill>
              </a:defRPr>
            </a:lvl5pPr>
            <a:lvl6pPr indent="-317500" lvl="5" marL="2743200">
              <a:spcBef>
                <a:spcPts val="0"/>
              </a:spcBef>
              <a:spcAft>
                <a:spcPts val="0"/>
              </a:spcAft>
              <a:buClr>
                <a:schemeClr val="dk1"/>
              </a:buClr>
              <a:buSzPts val="1400"/>
              <a:buChar char="■"/>
              <a:defRPr>
                <a:solidFill>
                  <a:schemeClr val="dk1"/>
                </a:solidFill>
              </a:defRPr>
            </a:lvl6pPr>
            <a:lvl7pPr indent="-317500" lvl="6" marL="3200400">
              <a:spcBef>
                <a:spcPts val="0"/>
              </a:spcBef>
              <a:spcAft>
                <a:spcPts val="0"/>
              </a:spcAft>
              <a:buClr>
                <a:schemeClr val="dk1"/>
              </a:buClr>
              <a:buSzPts val="1400"/>
              <a:buChar char="●"/>
              <a:defRPr>
                <a:solidFill>
                  <a:schemeClr val="dk1"/>
                </a:solidFill>
              </a:defRPr>
            </a:lvl7pPr>
            <a:lvl8pPr indent="-317500" lvl="7" marL="3657600">
              <a:spcBef>
                <a:spcPts val="0"/>
              </a:spcBef>
              <a:spcAft>
                <a:spcPts val="0"/>
              </a:spcAft>
              <a:buClr>
                <a:schemeClr val="dk1"/>
              </a:buClr>
              <a:buSzPts val="1400"/>
              <a:buChar char="○"/>
              <a:defRPr>
                <a:solidFill>
                  <a:schemeClr val="dk1"/>
                </a:solidFill>
              </a:defRPr>
            </a:lvl8pPr>
            <a:lvl9pPr indent="-317500" lvl="8" marL="4114800">
              <a:spcBef>
                <a:spcPts val="0"/>
              </a:spcBef>
              <a:spcAft>
                <a:spcPts val="0"/>
              </a:spcAft>
              <a:buClr>
                <a:schemeClr val="dk1"/>
              </a:buClr>
              <a:buSzPts val="1400"/>
              <a:buChar char="■"/>
              <a:defRPr>
                <a:solidFill>
                  <a:schemeClr val="dk1"/>
                </a:solidFill>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dark-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Char char="●"/>
              <a:defRPr sz="1800">
                <a:solidFill>
                  <a:schemeClr val="lt2"/>
                </a:solidFill>
              </a:defRPr>
            </a:lvl1pPr>
            <a:lvl2pPr indent="-317500" lvl="1" marL="914400">
              <a:lnSpc>
                <a:spcPct val="115000"/>
              </a:lnSpc>
              <a:spcBef>
                <a:spcPts val="0"/>
              </a:spcBef>
              <a:spcAft>
                <a:spcPts val="0"/>
              </a:spcAft>
              <a:buClr>
                <a:schemeClr val="lt2"/>
              </a:buClr>
              <a:buSzPts val="1400"/>
              <a:buChar char="○"/>
              <a:defRPr>
                <a:solidFill>
                  <a:schemeClr val="lt2"/>
                </a:solidFill>
              </a:defRPr>
            </a:lvl2pPr>
            <a:lvl3pPr indent="-317500" lvl="2" marL="1371600">
              <a:lnSpc>
                <a:spcPct val="115000"/>
              </a:lnSpc>
              <a:spcBef>
                <a:spcPts val="0"/>
              </a:spcBef>
              <a:spcAft>
                <a:spcPts val="0"/>
              </a:spcAft>
              <a:buClr>
                <a:schemeClr val="lt2"/>
              </a:buClr>
              <a:buSzPts val="1400"/>
              <a:buChar char="■"/>
              <a:defRPr>
                <a:solidFill>
                  <a:schemeClr val="lt2"/>
                </a:solidFill>
              </a:defRPr>
            </a:lvl3pPr>
            <a:lvl4pPr indent="-317500" lvl="3" marL="1828800">
              <a:lnSpc>
                <a:spcPct val="115000"/>
              </a:lnSpc>
              <a:spcBef>
                <a:spcPts val="0"/>
              </a:spcBef>
              <a:spcAft>
                <a:spcPts val="0"/>
              </a:spcAft>
              <a:buClr>
                <a:schemeClr val="lt2"/>
              </a:buClr>
              <a:buSzPts val="1400"/>
              <a:buChar char="●"/>
              <a:defRPr>
                <a:solidFill>
                  <a:schemeClr val="lt2"/>
                </a:solidFill>
              </a:defRPr>
            </a:lvl4pPr>
            <a:lvl5pPr indent="-317500" lvl="4" marL="2286000">
              <a:lnSpc>
                <a:spcPct val="115000"/>
              </a:lnSpc>
              <a:spcBef>
                <a:spcPts val="0"/>
              </a:spcBef>
              <a:spcAft>
                <a:spcPts val="0"/>
              </a:spcAft>
              <a:buClr>
                <a:schemeClr val="lt2"/>
              </a:buClr>
              <a:buSzPts val="1400"/>
              <a:buChar char="○"/>
              <a:defRPr>
                <a:solidFill>
                  <a:schemeClr val="lt2"/>
                </a:solidFill>
              </a:defRPr>
            </a:lvl5pPr>
            <a:lvl6pPr indent="-317500" lvl="5" marL="2743200">
              <a:lnSpc>
                <a:spcPct val="115000"/>
              </a:lnSpc>
              <a:spcBef>
                <a:spcPts val="0"/>
              </a:spcBef>
              <a:spcAft>
                <a:spcPts val="0"/>
              </a:spcAft>
              <a:buClr>
                <a:schemeClr val="lt2"/>
              </a:buClr>
              <a:buSzPts val="1400"/>
              <a:buChar char="■"/>
              <a:defRPr>
                <a:solidFill>
                  <a:schemeClr val="lt2"/>
                </a:solidFill>
              </a:defRPr>
            </a:lvl6pPr>
            <a:lvl7pPr indent="-317500" lvl="6" marL="3200400">
              <a:lnSpc>
                <a:spcPct val="115000"/>
              </a:lnSpc>
              <a:spcBef>
                <a:spcPts val="0"/>
              </a:spcBef>
              <a:spcAft>
                <a:spcPts val="0"/>
              </a:spcAft>
              <a:buClr>
                <a:schemeClr val="lt2"/>
              </a:buClr>
              <a:buSzPts val="1400"/>
              <a:buChar char="●"/>
              <a:defRPr>
                <a:solidFill>
                  <a:schemeClr val="lt2"/>
                </a:solidFill>
              </a:defRPr>
            </a:lvl7pPr>
            <a:lvl8pPr indent="-317500" lvl="7" marL="3657600">
              <a:lnSpc>
                <a:spcPct val="115000"/>
              </a:lnSpc>
              <a:spcBef>
                <a:spcPts val="0"/>
              </a:spcBef>
              <a:spcAft>
                <a:spcPts val="0"/>
              </a:spcAft>
              <a:buClr>
                <a:schemeClr val="lt2"/>
              </a:buClr>
              <a:buSzPts val="1400"/>
              <a:buChar char="○"/>
              <a:defRPr>
                <a:solidFill>
                  <a:schemeClr val="lt2"/>
                </a:solidFill>
              </a:defRPr>
            </a:lvl8pPr>
            <a:lvl9pPr indent="-317500" lvl="8" marL="4114800">
              <a:lnSpc>
                <a:spcPct val="115000"/>
              </a:lnSpc>
              <a:spcBef>
                <a:spcPts val="0"/>
              </a:spcBef>
              <a:spcAft>
                <a:spcPts val="0"/>
              </a:spcAft>
              <a:buClr>
                <a:schemeClr val="lt2"/>
              </a:buClr>
              <a:buSzPts val="1400"/>
              <a:buChar char="■"/>
              <a:defRPr>
                <a:solidFill>
                  <a:schemeClr val="lt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defRPr>
            </a:lvl1pPr>
            <a:lvl2pPr lvl="1" algn="r">
              <a:buNone/>
              <a:defRPr sz="1000">
                <a:solidFill>
                  <a:schemeClr val="lt2"/>
                </a:solidFill>
              </a:defRPr>
            </a:lvl2pPr>
            <a:lvl3pPr lvl="2" algn="r">
              <a:buNone/>
              <a:defRPr sz="1000">
                <a:solidFill>
                  <a:schemeClr val="lt2"/>
                </a:solidFill>
              </a:defRPr>
            </a:lvl3pPr>
            <a:lvl4pPr lvl="3" algn="r">
              <a:buNone/>
              <a:defRPr sz="1000">
                <a:solidFill>
                  <a:schemeClr val="lt2"/>
                </a:solidFill>
              </a:defRPr>
            </a:lvl4pPr>
            <a:lvl5pPr lvl="4" algn="r">
              <a:buNone/>
              <a:defRPr sz="1000">
                <a:solidFill>
                  <a:schemeClr val="lt2"/>
                </a:solidFill>
              </a:defRPr>
            </a:lvl5pPr>
            <a:lvl6pPr lvl="5" algn="r">
              <a:buNone/>
              <a:defRPr sz="1000">
                <a:solidFill>
                  <a:schemeClr val="lt2"/>
                </a:solidFill>
              </a:defRPr>
            </a:lvl6pPr>
            <a:lvl7pPr lvl="6" algn="r">
              <a:buNone/>
              <a:defRPr sz="1000">
                <a:solidFill>
                  <a:schemeClr val="lt2"/>
                </a:solidFill>
              </a:defRPr>
            </a:lvl7pPr>
            <a:lvl8pPr lvl="7" algn="r">
              <a:buNone/>
              <a:defRPr sz="1000">
                <a:solidFill>
                  <a:schemeClr val="lt2"/>
                </a:solidFill>
              </a:defRPr>
            </a:lvl8pPr>
            <a:lvl9pPr lvl="8" algn="r">
              <a:buNone/>
              <a:defRPr sz="1000">
                <a:solidFill>
                  <a:schemeClr val="lt2"/>
                </a:solidFill>
              </a:defRPr>
            </a:lvl9pPr>
          </a:lstStyle>
          <a:p>
            <a:pPr indent="0" lvl="0" marL="0" rtl="0" algn="r">
              <a:spcBef>
                <a:spcPts val="0"/>
              </a:spcBef>
              <a:spcAft>
                <a:spcPts val="0"/>
              </a:spcAft>
              <a:buNone/>
            </a:pPr>
            <a:fld id="{00000000-1234-1234-1234-123412341234}" type="slidenum">
              <a:rPr lang="f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8.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1.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s://portswigger.net/web-security/server-side-template-injection" TargetMode="External"/><Relationship Id="rId4" Type="http://schemas.openxmlformats.org/officeDocument/2006/relationships/hyperlink" Target="https://onsecurity.io/article/server-side-template-injection-with-jinja2/" TargetMode="External"/><Relationship Id="rId5" Type="http://schemas.openxmlformats.org/officeDocument/2006/relationships/hyperlink" Target="https://owasp.org/www-project-web-security-testing-guide/v41/4-Web_Application_Security_Testing/07-Input_Validation_Testing/18-Testing_for_Server_Side_Template_Injection" TargetMode="External"/><Relationship Id="rId6" Type="http://schemas.openxmlformats.org/officeDocument/2006/relationships/hyperlink" Target="https://pequalsnp-team.github.io/cheatsheet/flask-jinja2-ssti"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14.png"/><Relationship Id="rId5" Type="http://schemas.openxmlformats.org/officeDocument/2006/relationships/image" Target="../media/image1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hyperlink" Target="https://portswigger.net/kb/issues/00200308_client-side-template-injection" TargetMode="External"/><Relationship Id="rId4" Type="http://schemas.openxmlformats.org/officeDocument/2006/relationships/hyperlink" Target="https://www.paloaltonetworks.com/blog/cloud-security/template-injection-vulnerabilities/" TargetMode="External"/><Relationship Id="rId5" Type="http://schemas.openxmlformats.org/officeDocument/2006/relationships/hyperlink" Target="https://www.omnicybersecurity.com/case_studies/case-study-template-injection-vulnerabilities/" TargetMode="External"/><Relationship Id="rId6" Type="http://schemas.openxmlformats.org/officeDocument/2006/relationships/hyperlink" Target="https://docs.secureauth.com/1907/en/secureauth-security-advisory---angularjs-client-side-template-injection.html"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16.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hyperlink" Target="https://j0eharr7.github.io" TargetMode="External"/><Relationship Id="rId4" Type="http://schemas.openxmlformats.org/officeDocument/2006/relationships/image" Target="../media/image6.png"/><Relationship Id="rId5" Type="http://schemas.openxmlformats.org/officeDocument/2006/relationships/image" Target="../media/image9.png"/><Relationship Id="rId6"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hyperlink" Target="https://portswigger.net/web-security/ssrf" TargetMode="External"/><Relationship Id="rId4" Type="http://schemas.openxmlformats.org/officeDocument/2006/relationships/hyperlink" Target="https://www.f5.com/glossary/ssrf" TargetMode="External"/><Relationship Id="rId5" Type="http://schemas.openxmlformats.org/officeDocument/2006/relationships/hyperlink" Target="https://owasp.org/Top10/A10_2021-Server-Side_Request_Forgery_(SSRF)/" TargetMode="External"/><Relationship Id="rId6" Type="http://schemas.openxmlformats.org/officeDocument/2006/relationships/hyperlink" Target="https://www.imperva.com/learn/application-security/server-side-request-forgery-ssrf/"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 Id="rId3"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17.png"/><Relationship Id="rId6" Type="http://schemas.openxmlformats.org/officeDocument/2006/relationships/image" Target="../media/image10.png"/><Relationship Id="rId7" Type="http://schemas.openxmlformats.org/officeDocument/2006/relationships/image" Target="../media/image9.png"/><Relationship Id="rId8"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hyperlink" Target="https://owasp.org/www-community/attacks/csrf" TargetMode="External"/><Relationship Id="rId4" Type="http://schemas.openxmlformats.org/officeDocument/2006/relationships/hyperlink" Target="https://portswigger.net/web-security/csrf" TargetMode="External"/><Relationship Id="rId5" Type="http://schemas.openxmlformats.org/officeDocument/2006/relationships/hyperlink" Target="https://csrc.nist.gov/glossary/term/cross_site_request_forgery" TargetMode="External"/><Relationship Id="rId6" Type="http://schemas.openxmlformats.org/officeDocument/2006/relationships/hyperlink" Target="https://developer.mozilla.org/en-US/docs/Web/Security/Attacks/CSRF" TargetMode="External"/><Relationship Id="rId7" Type="http://schemas.openxmlformats.org/officeDocument/2006/relationships/hyperlink" Target="https://docs.spring.io/spring-security/reference/features/exploits/csrf.html"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268500" y="731850"/>
            <a:ext cx="3900300" cy="20526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fr"/>
              <a:t>Session 2: </a:t>
            </a:r>
            <a:endParaRPr/>
          </a:p>
          <a:p>
            <a:pPr indent="0" lvl="0" marL="0" rtl="0" algn="ctr">
              <a:spcBef>
                <a:spcPts val="0"/>
              </a:spcBef>
              <a:spcAft>
                <a:spcPts val="0"/>
              </a:spcAft>
              <a:buNone/>
            </a:pPr>
            <a:r>
              <a:rPr lang="fr"/>
              <a:t>Web </a:t>
            </a:r>
            <a:r>
              <a:rPr lang="fr"/>
              <a:t>Exploitation</a:t>
            </a:r>
            <a:endParaRPr/>
          </a:p>
        </p:txBody>
      </p:sp>
      <p:pic>
        <p:nvPicPr>
          <p:cNvPr id="55" name="Google Shape;55;p13"/>
          <p:cNvPicPr preferRelativeResize="0"/>
          <p:nvPr/>
        </p:nvPicPr>
        <p:blipFill>
          <a:blip r:embed="rId3">
            <a:alphaModFix/>
          </a:blip>
          <a:stretch>
            <a:fillRect/>
          </a:stretch>
        </p:blipFill>
        <p:spPr>
          <a:xfrm>
            <a:off x="4310700" y="528625"/>
            <a:ext cx="4610100" cy="4086225"/>
          </a:xfrm>
          <a:prstGeom prst="rect">
            <a:avLst/>
          </a:prstGeom>
          <a:noFill/>
          <a:ln>
            <a:noFill/>
          </a:ln>
        </p:spPr>
      </p:pic>
      <p:sp>
        <p:nvSpPr>
          <p:cNvPr id="56" name="Google Shape;56;p13"/>
          <p:cNvSpPr txBox="1"/>
          <p:nvPr/>
        </p:nvSpPr>
        <p:spPr>
          <a:xfrm>
            <a:off x="360000" y="3542400"/>
            <a:ext cx="3067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sz="1800">
                <a:solidFill>
                  <a:schemeClr val="lt2"/>
                </a:solidFill>
              </a:rPr>
              <a:t>Presented by: Joe </a:t>
            </a:r>
            <a:endParaRPr sz="1800">
              <a:solidFill>
                <a:schemeClr val="lt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lfihrass okda </a:t>
            </a:r>
            <a:endParaRPr/>
          </a:p>
        </p:txBody>
      </p:sp>
      <p:sp>
        <p:nvSpPr>
          <p:cNvPr id="62" name="Google Shape;62;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fr"/>
              <a:t>SSTI: Server Side Template Injection</a:t>
            </a:r>
            <a:endParaRPr/>
          </a:p>
          <a:p>
            <a:pPr indent="-342900" lvl="0" marL="457200" rtl="0" algn="l">
              <a:spcBef>
                <a:spcPts val="0"/>
              </a:spcBef>
              <a:spcAft>
                <a:spcPts val="0"/>
              </a:spcAft>
              <a:buSzPts val="1800"/>
              <a:buChar char="●"/>
            </a:pPr>
            <a:r>
              <a:rPr lang="fr"/>
              <a:t>CSTI: Client Side Template Injection</a:t>
            </a:r>
            <a:endParaRPr/>
          </a:p>
          <a:p>
            <a:pPr indent="-342900" lvl="0" marL="457200" rtl="0" algn="l">
              <a:spcBef>
                <a:spcPts val="0"/>
              </a:spcBef>
              <a:spcAft>
                <a:spcPts val="0"/>
              </a:spcAft>
              <a:buSzPts val="1800"/>
              <a:buChar char="●"/>
            </a:pPr>
            <a:r>
              <a:rPr lang="fr"/>
              <a:t>SSRF: Server Side Forgery Request</a:t>
            </a:r>
            <a:endParaRPr/>
          </a:p>
          <a:p>
            <a:pPr indent="-342900" lvl="0" marL="457200" rtl="0" algn="l">
              <a:spcBef>
                <a:spcPts val="0"/>
              </a:spcBef>
              <a:spcAft>
                <a:spcPts val="0"/>
              </a:spcAft>
              <a:buSzPts val="1800"/>
              <a:buChar char="●"/>
            </a:pPr>
            <a:r>
              <a:rPr lang="fr"/>
              <a:t>CSRF: Cross-Site Forgery Request</a:t>
            </a:r>
            <a:endParaRPr/>
          </a:p>
          <a:p>
            <a:pPr indent="-342900" lvl="0" marL="457200" rtl="0" algn="l">
              <a:spcBef>
                <a:spcPts val="0"/>
              </a:spcBef>
              <a:spcAft>
                <a:spcPts val="0"/>
              </a:spcAft>
              <a:buSzPts val="1800"/>
              <a:buChar char="●"/>
            </a:pPr>
            <a:r>
              <a:rPr lang="fr"/>
              <a:t>Race Condition </a:t>
            </a:r>
            <a:endParaRPr/>
          </a:p>
        </p:txBody>
      </p:sp>
      <p:pic>
        <p:nvPicPr>
          <p:cNvPr id="63" name="Google Shape;63;p14"/>
          <p:cNvPicPr preferRelativeResize="0"/>
          <p:nvPr/>
        </p:nvPicPr>
        <p:blipFill>
          <a:blip r:embed="rId3">
            <a:alphaModFix/>
          </a:blip>
          <a:stretch>
            <a:fillRect/>
          </a:stretch>
        </p:blipFill>
        <p:spPr>
          <a:xfrm>
            <a:off x="4808550" y="1152474"/>
            <a:ext cx="4023751" cy="229729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311700" y="445025"/>
            <a:ext cx="8520600" cy="5727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1200"/>
              </a:spcAft>
              <a:buNone/>
            </a:pPr>
            <a:r>
              <a:rPr lang="fr" sz="2600">
                <a:solidFill>
                  <a:schemeClr val="lt2"/>
                </a:solidFill>
              </a:rPr>
              <a:t>SSTI: Server Side Template Injection</a:t>
            </a:r>
            <a:endParaRPr sz="3600"/>
          </a:p>
        </p:txBody>
      </p:sp>
      <p:graphicFrame>
        <p:nvGraphicFramePr>
          <p:cNvPr id="69" name="Google Shape;69;p15"/>
          <p:cNvGraphicFramePr/>
          <p:nvPr/>
        </p:nvGraphicFramePr>
        <p:xfrm>
          <a:off x="311700" y="1152475"/>
          <a:ext cx="3000000" cy="3000000"/>
        </p:xfrm>
        <a:graphic>
          <a:graphicData uri="http://schemas.openxmlformats.org/drawingml/2006/table">
            <a:tbl>
              <a:tblPr>
                <a:noFill/>
                <a:tableStyleId>{F9EBBCA4-0D90-4327-BABA-184757978243}</a:tableStyleId>
              </a:tblPr>
              <a:tblGrid>
                <a:gridCol w="2130150"/>
                <a:gridCol w="2130150"/>
                <a:gridCol w="2130150"/>
                <a:gridCol w="2130150"/>
              </a:tblGrid>
              <a:tr h="530675">
                <a:tc>
                  <a:txBody>
                    <a:bodyPr/>
                    <a:lstStyle/>
                    <a:p>
                      <a:pPr indent="0" lvl="0" marL="0" rtl="0" algn="l">
                        <a:spcBef>
                          <a:spcPts val="0"/>
                        </a:spcBef>
                        <a:spcAft>
                          <a:spcPts val="0"/>
                        </a:spcAft>
                        <a:buNone/>
                      </a:pPr>
                      <a:r>
                        <a:rPr lang="fr">
                          <a:solidFill>
                            <a:schemeClr val="dk1"/>
                          </a:solidFill>
                        </a:rPr>
                        <a:t>Description</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fr">
                          <a:solidFill>
                            <a:schemeClr val="dk1"/>
                          </a:solidFill>
                        </a:rPr>
                        <a:t>Impact</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fr">
                          <a:solidFill>
                            <a:schemeClr val="dk1"/>
                          </a:solidFill>
                        </a:rPr>
                        <a:t>Severity</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fr">
                          <a:solidFill>
                            <a:schemeClr val="dk1"/>
                          </a:solidFill>
                        </a:rPr>
                        <a:t>Score</a:t>
                      </a:r>
                      <a:endParaRPr>
                        <a:solidFill>
                          <a:schemeClr val="dk1"/>
                        </a:solidFill>
                      </a:endParaRPr>
                    </a:p>
                  </a:txBody>
                  <a:tcPr marT="91425" marB="91425" marR="91425" marL="91425"/>
                </a:tc>
              </a:tr>
              <a:tr h="1039325">
                <a:tc>
                  <a:txBody>
                    <a:bodyPr/>
                    <a:lstStyle/>
                    <a:p>
                      <a:pPr indent="0" lvl="0" marL="0" rtl="0" algn="l">
                        <a:spcBef>
                          <a:spcPts val="0"/>
                        </a:spcBef>
                        <a:spcAft>
                          <a:spcPts val="0"/>
                        </a:spcAft>
                        <a:buNone/>
                      </a:pPr>
                      <a:r>
                        <a:rPr lang="fr">
                          <a:solidFill>
                            <a:schemeClr val="dk1"/>
                          </a:solidFill>
                        </a:rPr>
                        <a:t>Server-Side Template Injection occurs when untrusted user input is executed by a server-side template engine (e.g., Jinja2, Twig, Freemarker, EJS). Attackers can inject template expressions, execute server-side logic</a:t>
                      </a:r>
                      <a:endParaRPr>
                        <a:solidFill>
                          <a:schemeClr val="dk1"/>
                        </a:solidFill>
                      </a:endParaRPr>
                    </a:p>
                  </a:txBody>
                  <a:tcPr marT="91425" marB="91425" marR="91425" marL="91425"/>
                </a:tc>
                <a:tc>
                  <a:txBody>
                    <a:bodyPr/>
                    <a:lstStyle/>
                    <a:p>
                      <a:pPr indent="-317500" lvl="0" marL="457200" rtl="0" algn="l">
                        <a:spcBef>
                          <a:spcPts val="0"/>
                        </a:spcBef>
                        <a:spcAft>
                          <a:spcPts val="0"/>
                        </a:spcAft>
                        <a:buClr>
                          <a:schemeClr val="dk1"/>
                        </a:buClr>
                        <a:buSzPts val="1400"/>
                        <a:buChar char="●"/>
                      </a:pPr>
                      <a:r>
                        <a:rPr lang="fr">
                          <a:solidFill>
                            <a:schemeClr val="dk1"/>
                          </a:solidFill>
                        </a:rPr>
                        <a:t>Sensitive data exposure</a:t>
                      </a:r>
                      <a:endParaRPr>
                        <a:solidFill>
                          <a:schemeClr val="dk1"/>
                        </a:solidFill>
                      </a:endParaRPr>
                    </a:p>
                    <a:p>
                      <a:pPr indent="0" lvl="0" marL="0" rtl="0" algn="l">
                        <a:spcBef>
                          <a:spcPts val="0"/>
                        </a:spcBef>
                        <a:spcAft>
                          <a:spcPts val="0"/>
                        </a:spcAft>
                        <a:buNone/>
                      </a:pPr>
                      <a:r>
                        <a:t/>
                      </a:r>
                      <a:endParaRPr>
                        <a:solidFill>
                          <a:schemeClr val="dk1"/>
                        </a:solidFill>
                      </a:endParaRPr>
                    </a:p>
                    <a:p>
                      <a:pPr indent="-317500" lvl="0" marL="457200" rtl="0" algn="l">
                        <a:spcBef>
                          <a:spcPts val="0"/>
                        </a:spcBef>
                        <a:spcAft>
                          <a:spcPts val="0"/>
                        </a:spcAft>
                        <a:buClr>
                          <a:schemeClr val="dk1"/>
                        </a:buClr>
                        <a:buSzPts val="1400"/>
                        <a:buChar char="●"/>
                      </a:pPr>
                      <a:r>
                        <a:rPr lang="fr">
                          <a:solidFill>
                            <a:schemeClr val="dk1"/>
                          </a:solidFill>
                        </a:rPr>
                        <a:t>Execution of arbitrary code</a:t>
                      </a:r>
                      <a:endParaRPr>
                        <a:solidFill>
                          <a:schemeClr val="dk1"/>
                        </a:solidFill>
                      </a:endParaRPr>
                    </a:p>
                    <a:p>
                      <a:pPr indent="0" lvl="0" marL="457200" rtl="0" algn="l">
                        <a:spcBef>
                          <a:spcPts val="0"/>
                        </a:spcBef>
                        <a:spcAft>
                          <a:spcPts val="0"/>
                        </a:spcAft>
                        <a:buNone/>
                      </a:pPr>
                      <a:r>
                        <a:rPr lang="fr">
                          <a:solidFill>
                            <a:schemeClr val="dk1"/>
                          </a:solidFill>
                        </a:rPr>
                        <a:t> </a:t>
                      </a:r>
                      <a:endParaRPr>
                        <a:solidFill>
                          <a:schemeClr val="dk1"/>
                        </a:solidFill>
                      </a:endParaRPr>
                    </a:p>
                    <a:p>
                      <a:pPr indent="-317500" lvl="0" marL="457200" rtl="0" algn="l">
                        <a:spcBef>
                          <a:spcPts val="0"/>
                        </a:spcBef>
                        <a:spcAft>
                          <a:spcPts val="0"/>
                        </a:spcAft>
                        <a:buClr>
                          <a:schemeClr val="dk1"/>
                        </a:buClr>
                        <a:buSzPts val="1400"/>
                        <a:buChar char="●"/>
                      </a:pPr>
                      <a:r>
                        <a:rPr lang="fr">
                          <a:solidFill>
                            <a:schemeClr val="dk1"/>
                          </a:solidFill>
                        </a:rPr>
                        <a:t>Remote Code Execution (RCE)</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fr">
                          <a:solidFill>
                            <a:srgbClr val="FF0000"/>
                          </a:solidFill>
                        </a:rPr>
                        <a:t>Critical</a:t>
                      </a:r>
                      <a:endParaRPr>
                        <a:solidFill>
                          <a:srgbClr val="FF0000"/>
                        </a:solidFill>
                      </a:endParaRPr>
                    </a:p>
                  </a:txBody>
                  <a:tcPr marT="91425" marB="91425" marR="91425" marL="91425"/>
                </a:tc>
                <a:tc>
                  <a:txBody>
                    <a:bodyPr/>
                    <a:lstStyle/>
                    <a:p>
                      <a:pPr indent="0" lvl="0" marL="0" rtl="0" algn="l">
                        <a:spcBef>
                          <a:spcPts val="0"/>
                        </a:spcBef>
                        <a:spcAft>
                          <a:spcPts val="0"/>
                        </a:spcAft>
                        <a:buNone/>
                      </a:pPr>
                      <a:r>
                        <a:rPr b="1" lang="fr" sz="1100">
                          <a:solidFill>
                            <a:srgbClr val="FF0000"/>
                          </a:solidFill>
                        </a:rPr>
                        <a:t>9.8 / 10.0</a:t>
                      </a:r>
                      <a:r>
                        <a:rPr lang="fr" sz="1100">
                          <a:solidFill>
                            <a:srgbClr val="FF0000"/>
                          </a:solidFill>
                        </a:rPr>
                        <a:t> (CVSS v3.1)</a:t>
                      </a:r>
                      <a:endParaRPr>
                        <a:solidFill>
                          <a:srgbClr val="FF0000"/>
                        </a:solidFill>
                      </a:endParaRPr>
                    </a:p>
                  </a:txBody>
                  <a:tcPr marT="91425" marB="91425" marR="91425" marL="91425"/>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pic>
        <p:nvPicPr>
          <p:cNvPr id="74" name="Google Shape;74;p16"/>
          <p:cNvPicPr preferRelativeResize="0"/>
          <p:nvPr/>
        </p:nvPicPr>
        <p:blipFill>
          <a:blip r:embed="rId3">
            <a:alphaModFix/>
          </a:blip>
          <a:stretch>
            <a:fillRect/>
          </a:stretch>
        </p:blipFill>
        <p:spPr>
          <a:xfrm>
            <a:off x="1826555" y="19350"/>
            <a:ext cx="5490883" cy="51048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7"/>
          <p:cNvSpPr txBox="1"/>
          <p:nvPr>
            <p:ph type="title"/>
          </p:nvPr>
        </p:nvSpPr>
        <p:spPr>
          <a:xfrm>
            <a:off x="311700" y="445025"/>
            <a:ext cx="8520600" cy="5727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fr"/>
              <a:t>Lab Explained</a:t>
            </a:r>
            <a:endParaRPr/>
          </a:p>
        </p:txBody>
      </p:sp>
      <p:sp>
        <p:nvSpPr>
          <p:cNvPr id="80" name="Google Shape;80;p17"/>
          <p:cNvSpPr/>
          <p:nvPr/>
        </p:nvSpPr>
        <p:spPr>
          <a:xfrm>
            <a:off x="223200" y="1324800"/>
            <a:ext cx="1533600" cy="1692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1" name="Google Shape;81;p17"/>
          <p:cNvSpPr txBox="1"/>
          <p:nvPr/>
        </p:nvSpPr>
        <p:spPr>
          <a:xfrm>
            <a:off x="311700" y="1476000"/>
            <a:ext cx="1252800" cy="244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fr" sz="1300"/>
              <a:t>Salam Form</a:t>
            </a:r>
            <a:endParaRPr sz="1300"/>
          </a:p>
        </p:txBody>
      </p:sp>
      <p:sp>
        <p:nvSpPr>
          <p:cNvPr id="82" name="Google Shape;82;p17"/>
          <p:cNvSpPr/>
          <p:nvPr/>
        </p:nvSpPr>
        <p:spPr>
          <a:xfrm>
            <a:off x="514800" y="1965600"/>
            <a:ext cx="928800" cy="280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sz="1100"/>
              <a:t>Input field</a:t>
            </a:r>
            <a:endParaRPr sz="1100"/>
          </a:p>
        </p:txBody>
      </p:sp>
      <p:sp>
        <p:nvSpPr>
          <p:cNvPr id="83" name="Google Shape;83;p17"/>
          <p:cNvSpPr/>
          <p:nvPr/>
        </p:nvSpPr>
        <p:spPr>
          <a:xfrm>
            <a:off x="504000" y="2556000"/>
            <a:ext cx="928800" cy="244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sz="1100"/>
              <a:t>Botona</a:t>
            </a:r>
            <a:endParaRPr sz="1100"/>
          </a:p>
        </p:txBody>
      </p:sp>
      <p:sp>
        <p:nvSpPr>
          <p:cNvPr id="84" name="Google Shape;84;p17"/>
          <p:cNvSpPr/>
          <p:nvPr/>
        </p:nvSpPr>
        <p:spPr>
          <a:xfrm>
            <a:off x="1987200" y="1423263"/>
            <a:ext cx="1375200" cy="4032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sz="1300"/>
              <a:t>Request Body</a:t>
            </a:r>
            <a:endParaRPr sz="1300"/>
          </a:p>
        </p:txBody>
      </p:sp>
      <p:sp>
        <p:nvSpPr>
          <p:cNvPr id="85" name="Google Shape;85;p17"/>
          <p:cNvSpPr/>
          <p:nvPr/>
        </p:nvSpPr>
        <p:spPr>
          <a:xfrm>
            <a:off x="1951200" y="1858950"/>
            <a:ext cx="1447200" cy="1108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6" name="Google Shape;86;p17"/>
          <p:cNvSpPr txBox="1"/>
          <p:nvPr/>
        </p:nvSpPr>
        <p:spPr>
          <a:xfrm>
            <a:off x="1987200" y="1942838"/>
            <a:ext cx="1288800" cy="24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000">
                <a:solidFill>
                  <a:srgbClr val="092249"/>
                </a:solidFill>
              </a:rPr>
              <a:t>POST      /greet</a:t>
            </a:r>
            <a:endParaRPr sz="1000">
              <a:solidFill>
                <a:srgbClr val="092249"/>
              </a:solidFill>
            </a:endParaRPr>
          </a:p>
        </p:txBody>
      </p:sp>
      <p:sp>
        <p:nvSpPr>
          <p:cNvPr id="87" name="Google Shape;87;p17"/>
          <p:cNvSpPr txBox="1"/>
          <p:nvPr/>
        </p:nvSpPr>
        <p:spPr>
          <a:xfrm>
            <a:off x="1951200" y="2240550"/>
            <a:ext cx="1569600" cy="61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000">
                <a:solidFill>
                  <a:srgbClr val="092249"/>
                </a:solidFill>
              </a:rPr>
              <a:t>{</a:t>
            </a:r>
            <a:endParaRPr sz="1000">
              <a:solidFill>
                <a:srgbClr val="092249"/>
              </a:solidFill>
            </a:endParaRPr>
          </a:p>
          <a:p>
            <a:pPr indent="0" lvl="0" marL="0" rtl="0" algn="l">
              <a:spcBef>
                <a:spcPts val="0"/>
              </a:spcBef>
              <a:spcAft>
                <a:spcPts val="0"/>
              </a:spcAft>
              <a:buNone/>
            </a:pPr>
            <a:r>
              <a:rPr lang="fr" sz="1000">
                <a:solidFill>
                  <a:srgbClr val="092249"/>
                </a:solidFill>
              </a:rPr>
              <a:t> “name”: “Amine”,</a:t>
            </a:r>
            <a:endParaRPr sz="1000">
              <a:solidFill>
                <a:srgbClr val="092249"/>
              </a:solidFill>
            </a:endParaRPr>
          </a:p>
          <a:p>
            <a:pPr indent="0" lvl="0" marL="0" rtl="0" algn="l">
              <a:spcBef>
                <a:spcPts val="0"/>
              </a:spcBef>
              <a:spcAft>
                <a:spcPts val="0"/>
              </a:spcAft>
              <a:buNone/>
            </a:pPr>
            <a:r>
              <a:rPr lang="fr" sz="1000">
                <a:solidFill>
                  <a:srgbClr val="092249"/>
                </a:solidFill>
              </a:rPr>
              <a:t>}</a:t>
            </a:r>
            <a:endParaRPr sz="1000">
              <a:solidFill>
                <a:srgbClr val="092249"/>
              </a:solidFill>
            </a:endParaRPr>
          </a:p>
        </p:txBody>
      </p:sp>
      <p:pic>
        <p:nvPicPr>
          <p:cNvPr id="88" name="Google Shape;88;p17"/>
          <p:cNvPicPr preferRelativeResize="0"/>
          <p:nvPr/>
        </p:nvPicPr>
        <p:blipFill>
          <a:blip r:embed="rId3">
            <a:alphaModFix/>
          </a:blip>
          <a:stretch>
            <a:fillRect/>
          </a:stretch>
        </p:blipFill>
        <p:spPr>
          <a:xfrm>
            <a:off x="3484800" y="1555200"/>
            <a:ext cx="2928475" cy="773875"/>
          </a:xfrm>
          <a:prstGeom prst="rect">
            <a:avLst/>
          </a:prstGeom>
          <a:noFill/>
          <a:ln>
            <a:noFill/>
          </a:ln>
        </p:spPr>
      </p:pic>
      <p:sp>
        <p:nvSpPr>
          <p:cNvPr id="89" name="Google Shape;89;p17"/>
          <p:cNvSpPr/>
          <p:nvPr/>
        </p:nvSpPr>
        <p:spPr>
          <a:xfrm>
            <a:off x="6184800" y="1396800"/>
            <a:ext cx="1029600" cy="4032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sz="1200"/>
              <a:t>Response</a:t>
            </a:r>
            <a:endParaRPr sz="1200"/>
          </a:p>
        </p:txBody>
      </p:sp>
      <p:sp>
        <p:nvSpPr>
          <p:cNvPr id="90" name="Google Shape;90;p17"/>
          <p:cNvSpPr/>
          <p:nvPr/>
        </p:nvSpPr>
        <p:spPr>
          <a:xfrm>
            <a:off x="7254000" y="1555200"/>
            <a:ext cx="1569600" cy="57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1" name="Google Shape;91;p17"/>
          <p:cNvSpPr txBox="1"/>
          <p:nvPr/>
        </p:nvSpPr>
        <p:spPr>
          <a:xfrm>
            <a:off x="7394400" y="1592400"/>
            <a:ext cx="1288800" cy="498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fr" sz="1200">
                <a:solidFill>
                  <a:schemeClr val="lt1"/>
                </a:solidFill>
              </a:rPr>
              <a:t>Hello, Amine!</a:t>
            </a:r>
            <a:endParaRPr sz="1200">
              <a:solidFill>
                <a:schemeClr val="lt1"/>
              </a:solidFill>
            </a:endParaRPr>
          </a:p>
        </p:txBody>
      </p:sp>
      <p:sp>
        <p:nvSpPr>
          <p:cNvPr id="92" name="Google Shape;92;p17"/>
          <p:cNvSpPr/>
          <p:nvPr/>
        </p:nvSpPr>
        <p:spPr>
          <a:xfrm rot="-5014615">
            <a:off x="3829791" y="2618345"/>
            <a:ext cx="893005" cy="120127"/>
          </a:xfrm>
          <a:prstGeom prst="rightArrow">
            <a:avLst>
              <a:gd fmla="val 50000" name="adj1"/>
              <a:gd fmla="val 50000" name="adj2"/>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FF0000"/>
              </a:highlight>
            </a:endParaRPr>
          </a:p>
        </p:txBody>
      </p:sp>
      <p:pic>
        <p:nvPicPr>
          <p:cNvPr id="93" name="Google Shape;93;p17"/>
          <p:cNvPicPr preferRelativeResize="0"/>
          <p:nvPr/>
        </p:nvPicPr>
        <p:blipFill>
          <a:blip r:embed="rId4">
            <a:alphaModFix/>
          </a:blip>
          <a:stretch>
            <a:fillRect/>
          </a:stretch>
        </p:blipFill>
        <p:spPr>
          <a:xfrm>
            <a:off x="2233200" y="3158708"/>
            <a:ext cx="4767689" cy="170999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SSTI - References</a:t>
            </a:r>
            <a:endParaRPr/>
          </a:p>
        </p:txBody>
      </p:sp>
      <p:sp>
        <p:nvSpPr>
          <p:cNvPr id="99" name="Google Shape;99;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fr" u="sng">
                <a:solidFill>
                  <a:schemeClr val="hlink"/>
                </a:solidFill>
                <a:hlinkClick r:id="rId3"/>
              </a:rPr>
              <a:t>https://portswigger.net/web-security/server-side-template-injection</a:t>
            </a:r>
            <a:r>
              <a:rPr lang="fr"/>
              <a:t> </a:t>
            </a:r>
            <a:endParaRPr/>
          </a:p>
          <a:p>
            <a:pPr indent="-342900" lvl="0" marL="457200" rtl="0" algn="l">
              <a:spcBef>
                <a:spcPts val="0"/>
              </a:spcBef>
              <a:spcAft>
                <a:spcPts val="0"/>
              </a:spcAft>
              <a:buSzPts val="1800"/>
              <a:buChar char="●"/>
            </a:pPr>
            <a:r>
              <a:rPr lang="fr" u="sng">
                <a:solidFill>
                  <a:schemeClr val="hlink"/>
                </a:solidFill>
                <a:hlinkClick r:id="rId4"/>
              </a:rPr>
              <a:t>https://onsecurity.io/article/server-side-template-injection-with-jinja2/</a:t>
            </a:r>
            <a:endParaRPr/>
          </a:p>
          <a:p>
            <a:pPr indent="-342900" lvl="0" marL="457200" rtl="0" algn="l">
              <a:spcBef>
                <a:spcPts val="0"/>
              </a:spcBef>
              <a:spcAft>
                <a:spcPts val="0"/>
              </a:spcAft>
              <a:buSzPts val="1800"/>
              <a:buChar char="●"/>
            </a:pPr>
            <a:r>
              <a:rPr lang="fr" u="sng">
                <a:solidFill>
                  <a:schemeClr val="hlink"/>
                </a:solidFill>
                <a:hlinkClick r:id="rId5"/>
              </a:rPr>
              <a:t>https://owasp.org/www-project-web-security-testing-guide/v41/4-Web_Application_Security_Testing/07-Input_Validation_Testing/18-Testing_for_Server_Side_Template_Injection</a:t>
            </a:r>
            <a:endParaRPr/>
          </a:p>
          <a:p>
            <a:pPr indent="-342900" lvl="0" marL="457200" rtl="0" algn="l">
              <a:spcBef>
                <a:spcPts val="0"/>
              </a:spcBef>
              <a:spcAft>
                <a:spcPts val="0"/>
              </a:spcAft>
              <a:buSzPts val="1800"/>
              <a:buChar char="●"/>
            </a:pPr>
            <a:r>
              <a:rPr lang="fr" u="sng">
                <a:solidFill>
                  <a:schemeClr val="hlink"/>
                </a:solidFill>
                <a:hlinkClick r:id="rId6"/>
              </a:rPr>
              <a:t>https://pequalsnp-team.github.io/cheatsheet/flask-jinja2-ssti</a:t>
            </a:r>
            <a:r>
              <a:rPr lang="fr"/>
              <a:t>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9"/>
          <p:cNvSpPr txBox="1"/>
          <p:nvPr>
            <p:ph type="title"/>
          </p:nvPr>
        </p:nvSpPr>
        <p:spPr>
          <a:xfrm>
            <a:off x="311700" y="445025"/>
            <a:ext cx="8520600" cy="5727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1200"/>
              </a:spcAft>
              <a:buNone/>
            </a:pPr>
            <a:r>
              <a:rPr lang="fr" sz="2600">
                <a:solidFill>
                  <a:schemeClr val="lt2"/>
                </a:solidFill>
              </a:rPr>
              <a:t>CSTI: Client Side Template Injection</a:t>
            </a:r>
            <a:endParaRPr sz="2600"/>
          </a:p>
        </p:txBody>
      </p:sp>
      <p:graphicFrame>
        <p:nvGraphicFramePr>
          <p:cNvPr id="105" name="Google Shape;105;p19"/>
          <p:cNvGraphicFramePr/>
          <p:nvPr/>
        </p:nvGraphicFramePr>
        <p:xfrm>
          <a:off x="311700" y="1398750"/>
          <a:ext cx="3000000" cy="3000000"/>
        </p:xfrm>
        <a:graphic>
          <a:graphicData uri="http://schemas.openxmlformats.org/drawingml/2006/table">
            <a:tbl>
              <a:tblPr>
                <a:noFill/>
                <a:tableStyleId>{F9EBBCA4-0D90-4327-BABA-184757978243}</a:tableStyleId>
              </a:tblPr>
              <a:tblGrid>
                <a:gridCol w="2130150"/>
                <a:gridCol w="2230950"/>
                <a:gridCol w="2029350"/>
                <a:gridCol w="2130150"/>
              </a:tblGrid>
              <a:tr h="381000">
                <a:tc>
                  <a:txBody>
                    <a:bodyPr/>
                    <a:lstStyle/>
                    <a:p>
                      <a:pPr indent="0" lvl="0" marL="0" rtl="0" algn="l">
                        <a:spcBef>
                          <a:spcPts val="0"/>
                        </a:spcBef>
                        <a:spcAft>
                          <a:spcPts val="0"/>
                        </a:spcAft>
                        <a:buNone/>
                      </a:pPr>
                      <a:r>
                        <a:rPr lang="fr">
                          <a:solidFill>
                            <a:schemeClr val="dk1"/>
                          </a:solidFill>
                        </a:rPr>
                        <a:t>Description</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fr">
                          <a:solidFill>
                            <a:schemeClr val="dk1"/>
                          </a:solidFill>
                        </a:rPr>
                        <a:t>Impact</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fr">
                          <a:solidFill>
                            <a:schemeClr val="dk1"/>
                          </a:solidFill>
                        </a:rPr>
                        <a:t>Severity</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fr">
                          <a:solidFill>
                            <a:schemeClr val="dk1"/>
                          </a:solidFill>
                        </a:rPr>
                        <a:t>Score</a:t>
                      </a:r>
                      <a:endParaRPr>
                        <a:solidFill>
                          <a:schemeClr val="dk1"/>
                        </a:solidFill>
                      </a:endParaRPr>
                    </a:p>
                  </a:txBody>
                  <a:tcPr marT="91425" marB="91425" marR="91425" marL="91425"/>
                </a:tc>
              </a:tr>
              <a:tr h="381000">
                <a:tc>
                  <a:txBody>
                    <a:bodyPr/>
                    <a:lstStyle/>
                    <a:p>
                      <a:pPr indent="0" lvl="0" marL="0" rtl="0" algn="l">
                        <a:spcBef>
                          <a:spcPts val="0"/>
                        </a:spcBef>
                        <a:spcAft>
                          <a:spcPts val="0"/>
                        </a:spcAft>
                        <a:buNone/>
                      </a:pPr>
                      <a:r>
                        <a:rPr lang="fr">
                          <a:solidFill>
                            <a:schemeClr val="dk1"/>
                          </a:solidFill>
                        </a:rPr>
                        <a:t>Client-Side Template Injection occurs when user-controlled input is rendered inside a client-side template engine (e.g., AngularJS, Vue.js, Handlebars, Mustache) without proper sanitization. </a:t>
                      </a:r>
                      <a:endParaRPr>
                        <a:solidFill>
                          <a:schemeClr val="dk1"/>
                        </a:solidFill>
                      </a:endParaRPr>
                    </a:p>
                  </a:txBody>
                  <a:tcPr marT="91425" marB="91425" marR="91425" marL="91425"/>
                </a:tc>
                <a:tc>
                  <a:txBody>
                    <a:bodyPr/>
                    <a:lstStyle/>
                    <a:p>
                      <a:pPr indent="-317500" lvl="0" marL="457200" rtl="0" algn="l">
                        <a:spcBef>
                          <a:spcPts val="0"/>
                        </a:spcBef>
                        <a:spcAft>
                          <a:spcPts val="0"/>
                        </a:spcAft>
                        <a:buClr>
                          <a:schemeClr val="dk1"/>
                        </a:buClr>
                        <a:buSzPts val="1400"/>
                        <a:buChar char="●"/>
                      </a:pPr>
                      <a:r>
                        <a:rPr lang="fr">
                          <a:solidFill>
                            <a:schemeClr val="dk1"/>
                          </a:solidFill>
                        </a:rPr>
                        <a:t>Can lead to DOM manipulation</a:t>
                      </a:r>
                      <a:endParaRPr>
                        <a:solidFill>
                          <a:schemeClr val="dk1"/>
                        </a:solidFill>
                      </a:endParaRPr>
                    </a:p>
                    <a:p>
                      <a:pPr indent="0" lvl="0" marL="457200" rtl="0" algn="l">
                        <a:spcBef>
                          <a:spcPts val="0"/>
                        </a:spcBef>
                        <a:spcAft>
                          <a:spcPts val="0"/>
                        </a:spcAft>
                        <a:buNone/>
                      </a:pPr>
                      <a:r>
                        <a:t/>
                      </a:r>
                      <a:endParaRPr>
                        <a:solidFill>
                          <a:schemeClr val="dk1"/>
                        </a:solidFill>
                      </a:endParaRPr>
                    </a:p>
                    <a:p>
                      <a:pPr indent="-317500" lvl="0" marL="457200" rtl="0" algn="l">
                        <a:spcBef>
                          <a:spcPts val="0"/>
                        </a:spcBef>
                        <a:spcAft>
                          <a:spcPts val="0"/>
                        </a:spcAft>
                        <a:buClr>
                          <a:schemeClr val="dk1"/>
                        </a:buClr>
                        <a:buSzPts val="1400"/>
                        <a:buChar char="●"/>
                      </a:pPr>
                      <a:r>
                        <a:rPr lang="fr">
                          <a:solidFill>
                            <a:schemeClr val="dk1"/>
                          </a:solidFill>
                        </a:rPr>
                        <a:t>Account takeover with XSS payloads</a:t>
                      </a:r>
                      <a:endParaRPr>
                        <a:solidFill>
                          <a:schemeClr val="dk1"/>
                        </a:solidFill>
                      </a:endParaRPr>
                    </a:p>
                    <a:p>
                      <a:pPr indent="0" lvl="0" marL="457200" rtl="0" algn="l">
                        <a:spcBef>
                          <a:spcPts val="0"/>
                        </a:spcBef>
                        <a:spcAft>
                          <a:spcPts val="0"/>
                        </a:spcAft>
                        <a:buNone/>
                      </a:pPr>
                      <a:r>
                        <a:t/>
                      </a:r>
                      <a:endParaRPr>
                        <a:solidFill>
                          <a:schemeClr val="dk1"/>
                        </a:solidFill>
                      </a:endParaRPr>
                    </a:p>
                    <a:p>
                      <a:pPr indent="-317500" lvl="0" marL="457200" rtl="0" algn="l">
                        <a:spcBef>
                          <a:spcPts val="0"/>
                        </a:spcBef>
                        <a:spcAft>
                          <a:spcPts val="0"/>
                        </a:spcAft>
                        <a:buClr>
                          <a:schemeClr val="dk1"/>
                        </a:buClr>
                        <a:buSzPts val="1400"/>
                        <a:buChar char="●"/>
                      </a:pPr>
                      <a:r>
                        <a:rPr lang="fr">
                          <a:solidFill>
                            <a:schemeClr val="dk1"/>
                          </a:solidFill>
                        </a:rPr>
                        <a:t>Browser-level RCE via JavaScript execution</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fr">
                          <a:solidFill>
                            <a:srgbClr val="FF0000"/>
                          </a:solidFill>
                        </a:rPr>
                        <a:t>High</a:t>
                      </a:r>
                      <a:endParaRPr>
                        <a:solidFill>
                          <a:srgbClr val="FF0000"/>
                        </a:solidFill>
                      </a:endParaRPr>
                    </a:p>
                  </a:txBody>
                  <a:tcPr marT="91425" marB="91425" marR="91425" marL="91425"/>
                </a:tc>
                <a:tc>
                  <a:txBody>
                    <a:bodyPr/>
                    <a:lstStyle/>
                    <a:p>
                      <a:pPr indent="0" lvl="0" marL="0" rtl="0" algn="l">
                        <a:spcBef>
                          <a:spcPts val="0"/>
                        </a:spcBef>
                        <a:spcAft>
                          <a:spcPts val="0"/>
                        </a:spcAft>
                        <a:buNone/>
                      </a:pPr>
                      <a:r>
                        <a:rPr lang="fr">
                          <a:solidFill>
                            <a:srgbClr val="FF0000"/>
                          </a:solidFill>
                        </a:rPr>
                        <a:t>7.5 – 8.8(CVSS v3.1)</a:t>
                      </a:r>
                      <a:endParaRPr>
                        <a:solidFill>
                          <a:srgbClr val="FF0000"/>
                        </a:solidFill>
                      </a:endParaRPr>
                    </a:p>
                  </a:txBody>
                  <a:tcPr marT="91425" marB="91425" marR="91425" marL="91425"/>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0"/>
          <p:cNvSpPr txBox="1"/>
          <p:nvPr>
            <p:ph type="title"/>
          </p:nvPr>
        </p:nvSpPr>
        <p:spPr>
          <a:xfrm>
            <a:off x="311700" y="445025"/>
            <a:ext cx="8520600" cy="5727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fr"/>
              <a:t>Lab Explained</a:t>
            </a:r>
            <a:endParaRPr/>
          </a:p>
        </p:txBody>
      </p:sp>
      <p:sp>
        <p:nvSpPr>
          <p:cNvPr id="111" name="Google Shape;111;p20"/>
          <p:cNvSpPr/>
          <p:nvPr/>
        </p:nvSpPr>
        <p:spPr>
          <a:xfrm>
            <a:off x="223200" y="1324800"/>
            <a:ext cx="1533600" cy="1692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2" name="Google Shape;112;p20"/>
          <p:cNvSpPr txBox="1"/>
          <p:nvPr/>
        </p:nvSpPr>
        <p:spPr>
          <a:xfrm>
            <a:off x="311700" y="1476000"/>
            <a:ext cx="1252800" cy="244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fr" sz="1300"/>
              <a:t>Salam Form</a:t>
            </a:r>
            <a:endParaRPr sz="1300"/>
          </a:p>
        </p:txBody>
      </p:sp>
      <p:sp>
        <p:nvSpPr>
          <p:cNvPr id="113" name="Google Shape;113;p20"/>
          <p:cNvSpPr/>
          <p:nvPr/>
        </p:nvSpPr>
        <p:spPr>
          <a:xfrm>
            <a:off x="514800" y="2024025"/>
            <a:ext cx="928800" cy="280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sz="1100"/>
              <a:t>Input field</a:t>
            </a:r>
            <a:endParaRPr sz="1100"/>
          </a:p>
        </p:txBody>
      </p:sp>
      <p:sp>
        <p:nvSpPr>
          <p:cNvPr id="114" name="Google Shape;114;p20"/>
          <p:cNvSpPr/>
          <p:nvPr/>
        </p:nvSpPr>
        <p:spPr>
          <a:xfrm>
            <a:off x="514800" y="2608050"/>
            <a:ext cx="928800" cy="244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sz="1100"/>
              <a:t>Botona</a:t>
            </a:r>
            <a:endParaRPr sz="1100"/>
          </a:p>
        </p:txBody>
      </p:sp>
      <p:sp>
        <p:nvSpPr>
          <p:cNvPr id="115" name="Google Shape;115;p20"/>
          <p:cNvSpPr/>
          <p:nvPr/>
        </p:nvSpPr>
        <p:spPr>
          <a:xfrm>
            <a:off x="1627200" y="2444100"/>
            <a:ext cx="1862700" cy="5727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sz="1000"/>
              <a:t>Onclick renderGreeting()</a:t>
            </a:r>
            <a:endParaRPr sz="1000"/>
          </a:p>
        </p:txBody>
      </p:sp>
      <p:pic>
        <p:nvPicPr>
          <p:cNvPr id="116" name="Google Shape;116;p20"/>
          <p:cNvPicPr preferRelativeResize="0"/>
          <p:nvPr/>
        </p:nvPicPr>
        <p:blipFill>
          <a:blip r:embed="rId3">
            <a:alphaModFix/>
          </a:blip>
          <a:stretch>
            <a:fillRect/>
          </a:stretch>
        </p:blipFill>
        <p:spPr>
          <a:xfrm>
            <a:off x="4255200" y="1174540"/>
            <a:ext cx="4596724" cy="1862925"/>
          </a:xfrm>
          <a:prstGeom prst="rect">
            <a:avLst/>
          </a:prstGeom>
          <a:noFill/>
          <a:ln>
            <a:noFill/>
          </a:ln>
        </p:spPr>
      </p:pic>
      <p:sp>
        <p:nvSpPr>
          <p:cNvPr id="117" name="Google Shape;117;p20"/>
          <p:cNvSpPr txBox="1"/>
          <p:nvPr/>
        </p:nvSpPr>
        <p:spPr>
          <a:xfrm>
            <a:off x="511200" y="1807200"/>
            <a:ext cx="928800" cy="147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fr" sz="1000"/>
              <a:t>Id username </a:t>
            </a:r>
            <a:endParaRPr sz="1000"/>
          </a:p>
        </p:txBody>
      </p:sp>
      <p:sp>
        <p:nvSpPr>
          <p:cNvPr id="118" name="Google Shape;118;p20"/>
          <p:cNvSpPr/>
          <p:nvPr/>
        </p:nvSpPr>
        <p:spPr>
          <a:xfrm>
            <a:off x="223200" y="3016800"/>
            <a:ext cx="1533600" cy="1044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9" name="Google Shape;119;p20"/>
          <p:cNvSpPr txBox="1"/>
          <p:nvPr/>
        </p:nvSpPr>
        <p:spPr>
          <a:xfrm>
            <a:off x="473700" y="3126000"/>
            <a:ext cx="928800" cy="147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fr" sz="1000"/>
              <a:t>Id output </a:t>
            </a:r>
            <a:endParaRPr sz="1000"/>
          </a:p>
        </p:txBody>
      </p:sp>
      <p:pic>
        <p:nvPicPr>
          <p:cNvPr id="120" name="Google Shape;120;p20"/>
          <p:cNvPicPr preferRelativeResize="0"/>
          <p:nvPr/>
        </p:nvPicPr>
        <p:blipFill>
          <a:blip r:embed="rId4">
            <a:alphaModFix/>
          </a:blip>
          <a:stretch>
            <a:fillRect/>
          </a:stretch>
        </p:blipFill>
        <p:spPr>
          <a:xfrm>
            <a:off x="1477200" y="1778169"/>
            <a:ext cx="2749201" cy="684225"/>
          </a:xfrm>
          <a:prstGeom prst="rect">
            <a:avLst/>
          </a:prstGeom>
          <a:noFill/>
          <a:ln>
            <a:noFill/>
          </a:ln>
        </p:spPr>
      </p:pic>
      <p:pic>
        <p:nvPicPr>
          <p:cNvPr id="121" name="Google Shape;121;p20"/>
          <p:cNvPicPr preferRelativeResize="0"/>
          <p:nvPr/>
        </p:nvPicPr>
        <p:blipFill>
          <a:blip r:embed="rId5">
            <a:alphaModFix/>
          </a:blip>
          <a:stretch>
            <a:fillRect/>
          </a:stretch>
        </p:blipFill>
        <p:spPr>
          <a:xfrm>
            <a:off x="4188925" y="3945875"/>
            <a:ext cx="4955079" cy="684225"/>
          </a:xfrm>
          <a:prstGeom prst="rect">
            <a:avLst/>
          </a:prstGeom>
          <a:noFill/>
          <a:ln>
            <a:noFill/>
          </a:ln>
        </p:spPr>
      </p:pic>
      <p:sp>
        <p:nvSpPr>
          <p:cNvPr id="122" name="Google Shape;122;p20"/>
          <p:cNvSpPr/>
          <p:nvPr/>
        </p:nvSpPr>
        <p:spPr>
          <a:xfrm rot="-5844769">
            <a:off x="5243048" y="2961020"/>
            <a:ext cx="1874164" cy="98608"/>
          </a:xfrm>
          <a:prstGeom prst="rightArrow">
            <a:avLst>
              <a:gd fmla="val 50000" name="adj1"/>
              <a:gd fmla="val 50000" name="adj2"/>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3" name="Google Shape;123;p20"/>
          <p:cNvSpPr/>
          <p:nvPr/>
        </p:nvSpPr>
        <p:spPr>
          <a:xfrm rot="10292412">
            <a:off x="1077196" y="2854819"/>
            <a:ext cx="6503058" cy="49427"/>
          </a:xfrm>
          <a:prstGeom prst="rightArrow">
            <a:avLst>
              <a:gd fmla="val 50000" name="adj1"/>
              <a:gd fmla="val 5000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CSTI - References</a:t>
            </a:r>
            <a:endParaRPr/>
          </a:p>
        </p:txBody>
      </p:sp>
      <p:sp>
        <p:nvSpPr>
          <p:cNvPr id="129" name="Google Shape;129;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fr" u="sng">
                <a:solidFill>
                  <a:schemeClr val="hlink"/>
                </a:solidFill>
                <a:hlinkClick r:id="rId3"/>
              </a:rPr>
              <a:t>https://portswigger.net/kb/issues/00200308_client-side-template-injection</a:t>
            </a:r>
            <a:r>
              <a:rPr lang="fr"/>
              <a:t> </a:t>
            </a:r>
            <a:endParaRPr/>
          </a:p>
          <a:p>
            <a:pPr indent="-342900" lvl="0" marL="457200" rtl="0" algn="l">
              <a:spcBef>
                <a:spcPts val="0"/>
              </a:spcBef>
              <a:spcAft>
                <a:spcPts val="0"/>
              </a:spcAft>
              <a:buSzPts val="1800"/>
              <a:buChar char="●"/>
            </a:pPr>
            <a:r>
              <a:rPr lang="fr" u="sng">
                <a:solidFill>
                  <a:schemeClr val="hlink"/>
                </a:solidFill>
                <a:hlinkClick r:id="rId4"/>
              </a:rPr>
              <a:t>https://www.paloaltonetworks.com/blog/cloud-security/template-injection-vulnerabilities/</a:t>
            </a:r>
            <a:r>
              <a:rPr lang="fr"/>
              <a:t> </a:t>
            </a:r>
            <a:endParaRPr/>
          </a:p>
          <a:p>
            <a:pPr indent="-342900" lvl="0" marL="457200" rtl="0" algn="l">
              <a:spcBef>
                <a:spcPts val="0"/>
              </a:spcBef>
              <a:spcAft>
                <a:spcPts val="0"/>
              </a:spcAft>
              <a:buSzPts val="1800"/>
              <a:buChar char="●"/>
            </a:pPr>
            <a:r>
              <a:rPr lang="fr" u="sng">
                <a:solidFill>
                  <a:schemeClr val="hlink"/>
                </a:solidFill>
                <a:hlinkClick r:id="rId5"/>
              </a:rPr>
              <a:t>https://www.omnicybersecurity.com/case_studies/case-study-template-injection-vulnerabilities/</a:t>
            </a:r>
            <a:endParaRPr/>
          </a:p>
          <a:p>
            <a:pPr indent="-342900" lvl="0" marL="457200" rtl="0" algn="l">
              <a:spcBef>
                <a:spcPts val="0"/>
              </a:spcBef>
              <a:spcAft>
                <a:spcPts val="0"/>
              </a:spcAft>
              <a:buSzPts val="1800"/>
              <a:buChar char="●"/>
            </a:pPr>
            <a:r>
              <a:rPr lang="fr" u="sng">
                <a:solidFill>
                  <a:schemeClr val="hlink"/>
                </a:solidFill>
                <a:hlinkClick r:id="rId6"/>
              </a:rPr>
              <a:t>https://docs.secureauth.com/1907/en/secureauth-security-advisory---angularjs-client-side-template-injection.html</a:t>
            </a:r>
            <a:r>
              <a:rPr lang="fr"/>
              <a:t>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2"/>
          <p:cNvSpPr txBox="1"/>
          <p:nvPr>
            <p:ph type="title"/>
          </p:nvPr>
        </p:nvSpPr>
        <p:spPr>
          <a:xfrm>
            <a:off x="311700" y="445025"/>
            <a:ext cx="8520600" cy="5727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1200"/>
              </a:spcAft>
              <a:buNone/>
            </a:pPr>
            <a:r>
              <a:rPr lang="fr" sz="2600">
                <a:solidFill>
                  <a:schemeClr val="lt2"/>
                </a:solidFill>
              </a:rPr>
              <a:t>SSRF: Server Side Forgery Request</a:t>
            </a:r>
            <a:endParaRPr sz="2600"/>
          </a:p>
        </p:txBody>
      </p:sp>
      <p:graphicFrame>
        <p:nvGraphicFramePr>
          <p:cNvPr id="135" name="Google Shape;135;p22"/>
          <p:cNvGraphicFramePr/>
          <p:nvPr/>
        </p:nvGraphicFramePr>
        <p:xfrm>
          <a:off x="311700" y="1053150"/>
          <a:ext cx="3000000" cy="3000000"/>
        </p:xfrm>
        <a:graphic>
          <a:graphicData uri="http://schemas.openxmlformats.org/drawingml/2006/table">
            <a:tbl>
              <a:tblPr>
                <a:noFill/>
                <a:tableStyleId>{F9EBBCA4-0D90-4327-BABA-184757978243}</a:tableStyleId>
              </a:tblPr>
              <a:tblGrid>
                <a:gridCol w="2130150"/>
                <a:gridCol w="2130150"/>
                <a:gridCol w="2130150"/>
                <a:gridCol w="2130150"/>
              </a:tblGrid>
              <a:tr h="381000">
                <a:tc>
                  <a:txBody>
                    <a:bodyPr/>
                    <a:lstStyle/>
                    <a:p>
                      <a:pPr indent="0" lvl="0" marL="0" rtl="0" algn="l">
                        <a:spcBef>
                          <a:spcPts val="0"/>
                        </a:spcBef>
                        <a:spcAft>
                          <a:spcPts val="0"/>
                        </a:spcAft>
                        <a:buNone/>
                      </a:pPr>
                      <a:r>
                        <a:rPr lang="fr">
                          <a:solidFill>
                            <a:schemeClr val="dk1"/>
                          </a:solidFill>
                        </a:rPr>
                        <a:t>Description</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fr">
                          <a:solidFill>
                            <a:schemeClr val="dk1"/>
                          </a:solidFill>
                        </a:rPr>
                        <a:t>Impact</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fr">
                          <a:solidFill>
                            <a:schemeClr val="dk1"/>
                          </a:solidFill>
                        </a:rPr>
                        <a:t>Severity</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fr">
                          <a:solidFill>
                            <a:schemeClr val="dk1"/>
                          </a:solidFill>
                        </a:rPr>
                        <a:t>Score</a:t>
                      </a:r>
                      <a:endParaRPr>
                        <a:solidFill>
                          <a:schemeClr val="dk1"/>
                        </a:solidFill>
                      </a:endParaRPr>
                    </a:p>
                  </a:txBody>
                  <a:tcPr marT="91425" marB="91425" marR="91425" marL="91425"/>
                </a:tc>
              </a:tr>
              <a:tr h="381000">
                <a:tc>
                  <a:txBody>
                    <a:bodyPr/>
                    <a:lstStyle/>
                    <a:p>
                      <a:pPr indent="0" lvl="0" marL="0" rtl="0" algn="l">
                        <a:spcBef>
                          <a:spcPts val="0"/>
                        </a:spcBef>
                        <a:spcAft>
                          <a:spcPts val="0"/>
                        </a:spcAft>
                        <a:buNone/>
                      </a:pPr>
                      <a:r>
                        <a:rPr lang="fr" sz="1300">
                          <a:solidFill>
                            <a:schemeClr val="dk1"/>
                          </a:solidFill>
                        </a:rPr>
                        <a:t>Server-Side Request Forgery (SSRF) occurs when an attacker can force the server to send unauthorized requests to internal or external systems. This happens when untrusted user input is used to build URLs or network requests without proper validation.</a:t>
                      </a:r>
                      <a:endParaRPr sz="1300">
                        <a:solidFill>
                          <a:schemeClr val="dk1"/>
                        </a:solidFill>
                      </a:endParaRPr>
                    </a:p>
                  </a:txBody>
                  <a:tcPr marT="91425" marB="91425" marR="91425" marL="91425"/>
                </a:tc>
                <a:tc>
                  <a:txBody>
                    <a:bodyPr/>
                    <a:lstStyle/>
                    <a:p>
                      <a:pPr indent="-311150" lvl="0" marL="457200" rtl="0" algn="l">
                        <a:spcBef>
                          <a:spcPts val="0"/>
                        </a:spcBef>
                        <a:spcAft>
                          <a:spcPts val="0"/>
                        </a:spcAft>
                        <a:buClr>
                          <a:schemeClr val="dk1"/>
                        </a:buClr>
                        <a:buSzPts val="1300"/>
                        <a:buChar char="●"/>
                      </a:pPr>
                      <a:r>
                        <a:rPr lang="fr" sz="1300">
                          <a:solidFill>
                            <a:schemeClr val="dk1"/>
                          </a:solidFill>
                        </a:rPr>
                        <a:t>Access to internal services </a:t>
                      </a:r>
                      <a:endParaRPr sz="1300">
                        <a:solidFill>
                          <a:schemeClr val="dk1"/>
                        </a:solidFill>
                      </a:endParaRPr>
                    </a:p>
                    <a:p>
                      <a:pPr indent="-311150" lvl="0" marL="457200" rtl="0" algn="l">
                        <a:spcBef>
                          <a:spcPts val="0"/>
                        </a:spcBef>
                        <a:spcAft>
                          <a:spcPts val="0"/>
                        </a:spcAft>
                        <a:buClr>
                          <a:schemeClr val="dk1"/>
                        </a:buClr>
                        <a:buSzPts val="1300"/>
                        <a:buChar char="●"/>
                      </a:pPr>
                      <a:r>
                        <a:rPr lang="fr" sz="1300">
                          <a:solidFill>
                            <a:schemeClr val="dk1"/>
                          </a:solidFill>
                        </a:rPr>
                        <a:t>Bypassing firewalls, </a:t>
                      </a:r>
                      <a:endParaRPr sz="1300">
                        <a:solidFill>
                          <a:schemeClr val="dk1"/>
                        </a:solidFill>
                      </a:endParaRPr>
                    </a:p>
                    <a:p>
                      <a:pPr indent="-311150" lvl="0" marL="457200" rtl="0" algn="l">
                        <a:spcBef>
                          <a:spcPts val="0"/>
                        </a:spcBef>
                        <a:spcAft>
                          <a:spcPts val="0"/>
                        </a:spcAft>
                        <a:buClr>
                          <a:schemeClr val="dk1"/>
                        </a:buClr>
                        <a:buSzPts val="1300"/>
                        <a:buChar char="●"/>
                      </a:pPr>
                      <a:r>
                        <a:rPr lang="fr" sz="1300">
                          <a:solidFill>
                            <a:schemeClr val="dk1"/>
                          </a:solidFill>
                        </a:rPr>
                        <a:t>Scanning internal network, </a:t>
                      </a:r>
                      <a:endParaRPr sz="1300">
                        <a:solidFill>
                          <a:schemeClr val="dk1"/>
                        </a:solidFill>
                      </a:endParaRPr>
                    </a:p>
                    <a:p>
                      <a:pPr indent="-311150" lvl="0" marL="457200" rtl="0" algn="l">
                        <a:spcBef>
                          <a:spcPts val="0"/>
                        </a:spcBef>
                        <a:spcAft>
                          <a:spcPts val="0"/>
                        </a:spcAft>
                        <a:buClr>
                          <a:schemeClr val="dk1"/>
                        </a:buClr>
                        <a:buSzPts val="1300"/>
                        <a:buChar char="●"/>
                      </a:pPr>
                      <a:r>
                        <a:rPr lang="fr" sz="1300">
                          <a:solidFill>
                            <a:schemeClr val="dk1"/>
                          </a:solidFill>
                        </a:rPr>
                        <a:t>Accessing internal APIs</a:t>
                      </a:r>
                      <a:endParaRPr sz="1300">
                        <a:solidFill>
                          <a:schemeClr val="dk1"/>
                        </a:solidFill>
                      </a:endParaRPr>
                    </a:p>
                    <a:p>
                      <a:pPr indent="-311150" lvl="0" marL="457200" rtl="0" algn="l">
                        <a:spcBef>
                          <a:spcPts val="0"/>
                        </a:spcBef>
                        <a:spcAft>
                          <a:spcPts val="0"/>
                        </a:spcAft>
                        <a:buClr>
                          <a:schemeClr val="dk1"/>
                        </a:buClr>
                        <a:buSzPts val="1300"/>
                        <a:buChar char="●"/>
                      </a:pPr>
                      <a:r>
                        <a:rPr lang="fr" sz="1300">
                          <a:solidFill>
                            <a:schemeClr val="dk1"/>
                          </a:solidFill>
                        </a:rPr>
                        <a:t>Pivoting to internal assets</a:t>
                      </a:r>
                      <a:endParaRPr sz="1300">
                        <a:solidFill>
                          <a:schemeClr val="dk1"/>
                        </a:solidFill>
                      </a:endParaRPr>
                    </a:p>
                  </a:txBody>
                  <a:tcPr marT="91425" marB="91425" marR="91425" marL="91425"/>
                </a:tc>
                <a:tc>
                  <a:txBody>
                    <a:bodyPr/>
                    <a:lstStyle/>
                    <a:p>
                      <a:pPr indent="0" lvl="0" marL="0" rtl="0" algn="l">
                        <a:spcBef>
                          <a:spcPts val="0"/>
                        </a:spcBef>
                        <a:spcAft>
                          <a:spcPts val="0"/>
                        </a:spcAft>
                        <a:buNone/>
                      </a:pPr>
                      <a:r>
                        <a:rPr lang="fr">
                          <a:solidFill>
                            <a:srgbClr val="FF0000"/>
                          </a:solidFill>
                        </a:rPr>
                        <a:t>Critical</a:t>
                      </a:r>
                      <a:endParaRPr>
                        <a:solidFill>
                          <a:srgbClr val="FF0000"/>
                        </a:solidFill>
                      </a:endParaRPr>
                    </a:p>
                  </a:txBody>
                  <a:tcPr marT="91425" marB="91425" marR="91425" marL="91425"/>
                </a:tc>
                <a:tc>
                  <a:txBody>
                    <a:bodyPr/>
                    <a:lstStyle/>
                    <a:p>
                      <a:pPr indent="0" lvl="0" marL="0" rtl="0" algn="l">
                        <a:spcBef>
                          <a:spcPts val="0"/>
                        </a:spcBef>
                        <a:spcAft>
                          <a:spcPts val="0"/>
                        </a:spcAft>
                        <a:buNone/>
                      </a:pPr>
                      <a:r>
                        <a:rPr lang="fr">
                          <a:solidFill>
                            <a:srgbClr val="FF0000"/>
                          </a:solidFill>
                        </a:rPr>
                        <a:t>9.0 – 10.0(CVSS v3.1)</a:t>
                      </a:r>
                      <a:endParaRPr>
                        <a:solidFill>
                          <a:srgbClr val="FF0000"/>
                        </a:solidFill>
                      </a:endParaRPr>
                    </a:p>
                  </a:txBody>
                  <a:tcPr marT="91425" marB="91425" marR="91425" marL="91425"/>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pic>
        <p:nvPicPr>
          <p:cNvPr id="140" name="Google Shape;140;p23"/>
          <p:cNvPicPr preferRelativeResize="0"/>
          <p:nvPr/>
        </p:nvPicPr>
        <p:blipFill>
          <a:blip r:embed="rId3">
            <a:alphaModFix/>
          </a:blip>
          <a:stretch>
            <a:fillRect/>
          </a:stretch>
        </p:blipFill>
        <p:spPr>
          <a:xfrm>
            <a:off x="166800" y="793625"/>
            <a:ext cx="3905576" cy="2634000"/>
          </a:xfrm>
          <a:prstGeom prst="rect">
            <a:avLst/>
          </a:prstGeom>
          <a:noFill/>
          <a:ln>
            <a:noFill/>
          </a:ln>
        </p:spPr>
      </p:pic>
      <p:pic>
        <p:nvPicPr>
          <p:cNvPr id="141" name="Google Shape;141;p23"/>
          <p:cNvPicPr preferRelativeResize="0"/>
          <p:nvPr/>
        </p:nvPicPr>
        <p:blipFill>
          <a:blip r:embed="rId4">
            <a:alphaModFix/>
          </a:blip>
          <a:stretch>
            <a:fillRect/>
          </a:stretch>
        </p:blipFill>
        <p:spPr>
          <a:xfrm>
            <a:off x="4231976" y="613525"/>
            <a:ext cx="4781224" cy="391644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4"/>
          <p:cNvSpPr txBox="1"/>
          <p:nvPr>
            <p:ph type="title"/>
          </p:nvPr>
        </p:nvSpPr>
        <p:spPr>
          <a:xfrm>
            <a:off x="311700" y="293825"/>
            <a:ext cx="8520600" cy="5727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fr"/>
              <a:t>Lab Explained</a:t>
            </a:r>
            <a:endParaRPr/>
          </a:p>
        </p:txBody>
      </p:sp>
      <p:sp>
        <p:nvSpPr>
          <p:cNvPr id="147" name="Google Shape;147;p24"/>
          <p:cNvSpPr/>
          <p:nvPr/>
        </p:nvSpPr>
        <p:spPr>
          <a:xfrm>
            <a:off x="86400" y="1029600"/>
            <a:ext cx="878400" cy="1850400"/>
          </a:xfrm>
          <a:prstGeom prst="rect">
            <a:avLst/>
          </a:prstGeom>
          <a:solidFill>
            <a:srgbClr val="D9D9D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8" name="Google Shape;148;p24"/>
          <p:cNvSpPr txBox="1"/>
          <p:nvPr/>
        </p:nvSpPr>
        <p:spPr>
          <a:xfrm>
            <a:off x="144000" y="1404000"/>
            <a:ext cx="763200" cy="223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fr" sz="1000">
                <a:solidFill>
                  <a:schemeClr val="lt1"/>
                </a:solidFill>
              </a:rPr>
              <a:t>Url Input</a:t>
            </a:r>
            <a:endParaRPr sz="1000">
              <a:solidFill>
                <a:schemeClr val="lt1"/>
              </a:solidFill>
            </a:endParaRPr>
          </a:p>
        </p:txBody>
      </p:sp>
      <p:sp>
        <p:nvSpPr>
          <p:cNvPr id="149" name="Google Shape;149;p24"/>
          <p:cNvSpPr/>
          <p:nvPr/>
        </p:nvSpPr>
        <p:spPr>
          <a:xfrm>
            <a:off x="208800" y="2203200"/>
            <a:ext cx="633600" cy="223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sz="1000"/>
              <a:t>Botona</a:t>
            </a:r>
            <a:endParaRPr sz="1000"/>
          </a:p>
        </p:txBody>
      </p:sp>
      <p:sp>
        <p:nvSpPr>
          <p:cNvPr id="150" name="Google Shape;150;p24"/>
          <p:cNvSpPr/>
          <p:nvPr/>
        </p:nvSpPr>
        <p:spPr>
          <a:xfrm>
            <a:off x="986400" y="1209600"/>
            <a:ext cx="1584000" cy="3600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sz="1000"/>
              <a:t>Request Body</a:t>
            </a:r>
            <a:endParaRPr sz="1000"/>
          </a:p>
        </p:txBody>
      </p:sp>
      <p:sp>
        <p:nvSpPr>
          <p:cNvPr id="151" name="Google Shape;151;p24"/>
          <p:cNvSpPr/>
          <p:nvPr/>
        </p:nvSpPr>
        <p:spPr>
          <a:xfrm>
            <a:off x="1008000" y="1555200"/>
            <a:ext cx="1562400" cy="1324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2" name="Google Shape;152;p24"/>
          <p:cNvSpPr txBox="1"/>
          <p:nvPr/>
        </p:nvSpPr>
        <p:spPr>
          <a:xfrm>
            <a:off x="1065600" y="1641600"/>
            <a:ext cx="1454400" cy="223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fr" sz="1000">
                <a:solidFill>
                  <a:schemeClr val="lt1"/>
                </a:solidFill>
              </a:rPr>
              <a:t>POST      /fetch</a:t>
            </a:r>
            <a:endParaRPr sz="1000">
              <a:solidFill>
                <a:schemeClr val="lt1"/>
              </a:solidFill>
            </a:endParaRPr>
          </a:p>
        </p:txBody>
      </p:sp>
      <p:sp>
        <p:nvSpPr>
          <p:cNvPr id="153" name="Google Shape;153;p24"/>
          <p:cNvSpPr txBox="1"/>
          <p:nvPr/>
        </p:nvSpPr>
        <p:spPr>
          <a:xfrm>
            <a:off x="1108800" y="2001600"/>
            <a:ext cx="1368000" cy="705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fr" sz="1000">
                <a:solidFill>
                  <a:schemeClr val="lt1"/>
                </a:solidFill>
              </a:rPr>
              <a:t>{</a:t>
            </a:r>
            <a:endParaRPr sz="1000">
              <a:solidFill>
                <a:schemeClr val="lt1"/>
              </a:solidFill>
            </a:endParaRPr>
          </a:p>
          <a:p>
            <a:pPr indent="0" lvl="0" marL="0" rtl="0" algn="l">
              <a:spcBef>
                <a:spcPts val="0"/>
              </a:spcBef>
              <a:spcAft>
                <a:spcPts val="0"/>
              </a:spcAft>
              <a:buNone/>
            </a:pPr>
            <a:r>
              <a:rPr lang="fr" sz="1000">
                <a:solidFill>
                  <a:schemeClr val="lt1"/>
                </a:solidFill>
              </a:rPr>
              <a:t>“url”:”</a:t>
            </a:r>
            <a:r>
              <a:rPr lang="fr" sz="1000" u="sng">
                <a:solidFill>
                  <a:schemeClr val="lt1"/>
                </a:solidFill>
                <a:hlinkClick r:id="rId3">
                  <a:extLst>
                    <a:ext uri="{A12FA001-AC4F-418D-AE19-62706E023703}">
                      <ahyp:hlinkClr val="tx"/>
                    </a:ext>
                  </a:extLst>
                </a:hlinkClick>
              </a:rPr>
              <a:t>https://j0eharr7.github.io</a:t>
            </a:r>
            <a:r>
              <a:rPr lang="fr" sz="1000">
                <a:solidFill>
                  <a:schemeClr val="lt1"/>
                </a:solidFill>
              </a:rPr>
              <a:t>”,</a:t>
            </a:r>
            <a:endParaRPr sz="1000">
              <a:solidFill>
                <a:schemeClr val="lt1"/>
              </a:solidFill>
            </a:endParaRPr>
          </a:p>
          <a:p>
            <a:pPr indent="0" lvl="0" marL="0" rtl="0" algn="l">
              <a:spcBef>
                <a:spcPts val="0"/>
              </a:spcBef>
              <a:spcAft>
                <a:spcPts val="0"/>
              </a:spcAft>
              <a:buNone/>
            </a:pPr>
            <a:r>
              <a:rPr lang="fr" sz="1000">
                <a:solidFill>
                  <a:schemeClr val="lt1"/>
                </a:solidFill>
              </a:rPr>
              <a:t>}</a:t>
            </a:r>
            <a:endParaRPr sz="1000">
              <a:solidFill>
                <a:schemeClr val="lt1"/>
              </a:solidFill>
            </a:endParaRPr>
          </a:p>
        </p:txBody>
      </p:sp>
      <p:pic>
        <p:nvPicPr>
          <p:cNvPr id="154" name="Google Shape;154;p24"/>
          <p:cNvPicPr preferRelativeResize="0"/>
          <p:nvPr/>
        </p:nvPicPr>
        <p:blipFill>
          <a:blip r:embed="rId4">
            <a:alphaModFix/>
          </a:blip>
          <a:stretch>
            <a:fillRect/>
          </a:stretch>
        </p:blipFill>
        <p:spPr>
          <a:xfrm>
            <a:off x="2915625" y="1335725"/>
            <a:ext cx="3312750" cy="1479475"/>
          </a:xfrm>
          <a:prstGeom prst="rect">
            <a:avLst/>
          </a:prstGeom>
          <a:noFill/>
          <a:ln>
            <a:noFill/>
          </a:ln>
        </p:spPr>
      </p:pic>
      <p:sp>
        <p:nvSpPr>
          <p:cNvPr id="155" name="Google Shape;155;p24"/>
          <p:cNvSpPr txBox="1"/>
          <p:nvPr/>
        </p:nvSpPr>
        <p:spPr>
          <a:xfrm>
            <a:off x="6739200" y="1360800"/>
            <a:ext cx="1980000" cy="70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100">
                <a:solidFill>
                  <a:schemeClr val="dk1"/>
                </a:solidFill>
              </a:rPr>
              <a:t>The server takes any URL provided by the user and performs a server-side HTTP request to it.</a:t>
            </a:r>
            <a:endParaRPr sz="1000">
              <a:solidFill>
                <a:schemeClr val="dk1"/>
              </a:solidFill>
            </a:endParaRPr>
          </a:p>
        </p:txBody>
      </p:sp>
      <p:sp>
        <p:nvSpPr>
          <p:cNvPr id="156" name="Google Shape;156;p24"/>
          <p:cNvSpPr/>
          <p:nvPr/>
        </p:nvSpPr>
        <p:spPr>
          <a:xfrm rot="10037133">
            <a:off x="4560442" y="1749770"/>
            <a:ext cx="2239515" cy="122707"/>
          </a:xfrm>
          <a:prstGeom prst="rightArrow">
            <a:avLst>
              <a:gd fmla="val 50000" name="adj1"/>
              <a:gd fmla="val 50000" name="adj2"/>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7" name="Google Shape;157;p24"/>
          <p:cNvSpPr/>
          <p:nvPr/>
        </p:nvSpPr>
        <p:spPr>
          <a:xfrm>
            <a:off x="2131200" y="2923200"/>
            <a:ext cx="6789600" cy="20880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8" name="Google Shape;158;p24"/>
          <p:cNvSpPr txBox="1"/>
          <p:nvPr/>
        </p:nvSpPr>
        <p:spPr>
          <a:xfrm>
            <a:off x="3045600" y="2923200"/>
            <a:ext cx="2505600" cy="360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fr">
                <a:solidFill>
                  <a:schemeClr val="lt1"/>
                </a:solidFill>
              </a:rPr>
              <a:t>APP Internal API</a:t>
            </a:r>
            <a:endParaRPr>
              <a:solidFill>
                <a:schemeClr val="lt1"/>
              </a:solidFill>
            </a:endParaRPr>
          </a:p>
        </p:txBody>
      </p:sp>
      <p:pic>
        <p:nvPicPr>
          <p:cNvPr id="159" name="Google Shape;159;p24"/>
          <p:cNvPicPr preferRelativeResize="0"/>
          <p:nvPr/>
        </p:nvPicPr>
        <p:blipFill>
          <a:blip r:embed="rId5">
            <a:alphaModFix/>
          </a:blip>
          <a:stretch>
            <a:fillRect/>
          </a:stretch>
        </p:blipFill>
        <p:spPr>
          <a:xfrm>
            <a:off x="86400" y="3490837"/>
            <a:ext cx="1074900" cy="952734"/>
          </a:xfrm>
          <a:prstGeom prst="rect">
            <a:avLst/>
          </a:prstGeom>
          <a:noFill/>
          <a:ln>
            <a:noFill/>
          </a:ln>
        </p:spPr>
      </p:pic>
      <p:sp>
        <p:nvSpPr>
          <p:cNvPr id="160" name="Google Shape;160;p24"/>
          <p:cNvSpPr/>
          <p:nvPr/>
        </p:nvSpPr>
        <p:spPr>
          <a:xfrm>
            <a:off x="2253600" y="3490800"/>
            <a:ext cx="1137600" cy="750000"/>
          </a:xfrm>
          <a:prstGeom prst="roundRect">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a:t>/fetch </a:t>
            </a:r>
            <a:endParaRPr/>
          </a:p>
          <a:p>
            <a:pPr indent="0" lvl="0" marL="0" rtl="0" algn="ctr">
              <a:spcBef>
                <a:spcPts val="0"/>
              </a:spcBef>
              <a:spcAft>
                <a:spcPts val="0"/>
              </a:spcAft>
              <a:buNone/>
            </a:pPr>
            <a:r>
              <a:rPr lang="fr"/>
              <a:t>Publicly Accessible</a:t>
            </a:r>
            <a:endParaRPr/>
          </a:p>
        </p:txBody>
      </p:sp>
      <p:sp>
        <p:nvSpPr>
          <p:cNvPr id="161" name="Google Shape;161;p24"/>
          <p:cNvSpPr/>
          <p:nvPr/>
        </p:nvSpPr>
        <p:spPr>
          <a:xfrm>
            <a:off x="4154400" y="3312000"/>
            <a:ext cx="4677900" cy="1479600"/>
          </a:xfrm>
          <a:prstGeom prst="roundRect">
            <a:avLst>
              <a:gd fmla="val 16667" name="adj"/>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2" name="Google Shape;162;p24"/>
          <p:cNvSpPr txBox="1"/>
          <p:nvPr/>
        </p:nvSpPr>
        <p:spPr>
          <a:xfrm>
            <a:off x="4334400" y="3420000"/>
            <a:ext cx="1418400" cy="36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fr" sz="1200">
                <a:solidFill>
                  <a:schemeClr val="lt1"/>
                </a:solidFill>
              </a:rPr>
              <a:t>/internal/metadata</a:t>
            </a:r>
            <a:endParaRPr sz="1200">
              <a:solidFill>
                <a:schemeClr val="lt1"/>
              </a:solidFill>
            </a:endParaRPr>
          </a:p>
        </p:txBody>
      </p:sp>
      <p:sp>
        <p:nvSpPr>
          <p:cNvPr id="163" name="Google Shape;163;p24"/>
          <p:cNvSpPr txBox="1"/>
          <p:nvPr/>
        </p:nvSpPr>
        <p:spPr>
          <a:xfrm>
            <a:off x="5854800" y="3420000"/>
            <a:ext cx="1046400" cy="36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fr" sz="1200">
                <a:solidFill>
                  <a:schemeClr val="lt1"/>
                </a:solidFill>
              </a:rPr>
              <a:t>/internal/flag</a:t>
            </a:r>
            <a:endParaRPr sz="1200">
              <a:solidFill>
                <a:schemeClr val="lt1"/>
              </a:solidFill>
            </a:endParaRPr>
          </a:p>
        </p:txBody>
      </p:sp>
      <p:sp>
        <p:nvSpPr>
          <p:cNvPr id="164" name="Google Shape;164;p24"/>
          <p:cNvSpPr txBox="1"/>
          <p:nvPr/>
        </p:nvSpPr>
        <p:spPr>
          <a:xfrm>
            <a:off x="7020000" y="3420000"/>
            <a:ext cx="1519200" cy="36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fr" sz="1200">
                <a:solidFill>
                  <a:schemeClr val="lt1"/>
                </a:solidFill>
              </a:rPr>
              <a:t>/internal/send_flag</a:t>
            </a:r>
            <a:endParaRPr sz="1200">
              <a:solidFill>
                <a:schemeClr val="lt1"/>
              </a:solidFill>
            </a:endParaRPr>
          </a:p>
        </p:txBody>
      </p:sp>
      <p:sp>
        <p:nvSpPr>
          <p:cNvPr id="165" name="Google Shape;165;p24"/>
          <p:cNvSpPr/>
          <p:nvPr/>
        </p:nvSpPr>
        <p:spPr>
          <a:xfrm>
            <a:off x="3391200" y="3859200"/>
            <a:ext cx="943200" cy="165600"/>
          </a:xfrm>
          <a:prstGeom prst="rightArrow">
            <a:avLst>
              <a:gd fmla="val 50000" name="adj1"/>
              <a:gd fmla="val 50000" name="adj2"/>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6" name="Google Shape;166;p24"/>
          <p:cNvSpPr/>
          <p:nvPr/>
        </p:nvSpPr>
        <p:spPr>
          <a:xfrm>
            <a:off x="1173600" y="3852000"/>
            <a:ext cx="1137600" cy="129600"/>
          </a:xfrm>
          <a:prstGeom prst="rightArrow">
            <a:avLst>
              <a:gd fmla="val 50000" name="adj1"/>
              <a:gd fmla="val 50000" name="adj2"/>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7" name="Google Shape;167;p24"/>
          <p:cNvSpPr/>
          <p:nvPr/>
        </p:nvSpPr>
        <p:spPr>
          <a:xfrm>
            <a:off x="1166400" y="4320000"/>
            <a:ext cx="3081600" cy="129600"/>
          </a:xfrm>
          <a:prstGeom prst="rightArrow">
            <a:avLst>
              <a:gd fmla="val 50000" name="adj1"/>
              <a:gd fmla="val 50000" name="adj2"/>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8" name="Google Shape;168;p24"/>
          <p:cNvSpPr/>
          <p:nvPr/>
        </p:nvSpPr>
        <p:spPr>
          <a:xfrm>
            <a:off x="2131200" y="4140000"/>
            <a:ext cx="532800" cy="489600"/>
          </a:xfrm>
          <a:prstGeom prst="mathMultiply">
            <a:avLst>
              <a:gd fmla="val 23520" name="adj1"/>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69" name="Google Shape;169;p24"/>
          <p:cNvPicPr preferRelativeResize="0"/>
          <p:nvPr/>
        </p:nvPicPr>
        <p:blipFill>
          <a:blip r:embed="rId6">
            <a:alphaModFix/>
          </a:blip>
          <a:stretch>
            <a:fillRect/>
          </a:stretch>
        </p:blipFill>
        <p:spPr>
          <a:xfrm>
            <a:off x="4629950" y="3780000"/>
            <a:ext cx="3726800" cy="999725"/>
          </a:xfrm>
          <a:prstGeom prst="rect">
            <a:avLst/>
          </a:prstGeom>
          <a:solidFill>
            <a:srgbClr val="F4CCCC"/>
          </a:solidFill>
          <a:ln>
            <a:noFill/>
          </a:ln>
        </p:spPr>
      </p:pic>
      <p:sp>
        <p:nvSpPr>
          <p:cNvPr id="170" name="Google Shape;170;p24"/>
          <p:cNvSpPr txBox="1"/>
          <p:nvPr/>
        </p:nvSpPr>
        <p:spPr>
          <a:xfrm>
            <a:off x="3412800" y="3708000"/>
            <a:ext cx="763200" cy="129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fr" sz="1000">
                <a:solidFill>
                  <a:schemeClr val="lt1"/>
                </a:solidFill>
              </a:rPr>
              <a:t>127.0.0.1</a:t>
            </a:r>
            <a:endParaRPr sz="1000">
              <a:solidFill>
                <a:schemeClr val="lt1"/>
              </a:solidFill>
            </a:endParaRPr>
          </a:p>
        </p:txBody>
      </p:sp>
      <p:sp>
        <p:nvSpPr>
          <p:cNvPr id="171" name="Google Shape;171;p24"/>
          <p:cNvSpPr txBox="1"/>
          <p:nvPr/>
        </p:nvSpPr>
        <p:spPr>
          <a:xfrm>
            <a:off x="2822400" y="4528800"/>
            <a:ext cx="878400" cy="129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fr" sz="1000">
                <a:solidFill>
                  <a:schemeClr val="lt1"/>
                </a:solidFill>
              </a:rPr>
              <a:t>External IP Forbidden</a:t>
            </a:r>
            <a:endParaRPr sz="1000">
              <a:solidFill>
                <a:schemeClr val="lt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SSRF - References</a:t>
            </a:r>
            <a:endParaRPr/>
          </a:p>
        </p:txBody>
      </p:sp>
      <p:sp>
        <p:nvSpPr>
          <p:cNvPr id="177" name="Google Shape;177;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fr" u="sng">
                <a:solidFill>
                  <a:schemeClr val="hlink"/>
                </a:solidFill>
                <a:hlinkClick r:id="rId3"/>
              </a:rPr>
              <a:t>https://portswigger.net/web-security/ssrf</a:t>
            </a:r>
            <a:r>
              <a:rPr lang="fr"/>
              <a:t> </a:t>
            </a:r>
            <a:endParaRPr/>
          </a:p>
          <a:p>
            <a:pPr indent="-342900" lvl="0" marL="457200" rtl="0" algn="l">
              <a:spcBef>
                <a:spcPts val="0"/>
              </a:spcBef>
              <a:spcAft>
                <a:spcPts val="0"/>
              </a:spcAft>
              <a:buSzPts val="1800"/>
              <a:buChar char="●"/>
            </a:pPr>
            <a:r>
              <a:rPr lang="fr" u="sng">
                <a:solidFill>
                  <a:schemeClr val="hlink"/>
                </a:solidFill>
                <a:hlinkClick r:id="rId4"/>
              </a:rPr>
              <a:t>https://www.f5.com/glossary/ssrf</a:t>
            </a:r>
            <a:r>
              <a:rPr lang="fr"/>
              <a:t> </a:t>
            </a:r>
            <a:endParaRPr/>
          </a:p>
          <a:p>
            <a:pPr indent="-342900" lvl="0" marL="457200" rtl="0" algn="l">
              <a:spcBef>
                <a:spcPts val="0"/>
              </a:spcBef>
              <a:spcAft>
                <a:spcPts val="0"/>
              </a:spcAft>
              <a:buSzPts val="1800"/>
              <a:buChar char="●"/>
            </a:pPr>
            <a:r>
              <a:rPr lang="fr" u="sng">
                <a:solidFill>
                  <a:schemeClr val="hlink"/>
                </a:solidFill>
                <a:hlinkClick r:id="rId5"/>
              </a:rPr>
              <a:t>https://owasp.org/Top10/A10_2021-Server-Side_Request_Forgery_(SSRF)/</a:t>
            </a:r>
            <a:r>
              <a:rPr lang="fr"/>
              <a:t> </a:t>
            </a:r>
            <a:endParaRPr/>
          </a:p>
          <a:p>
            <a:pPr indent="-342900" lvl="0" marL="457200" rtl="0" algn="l">
              <a:spcBef>
                <a:spcPts val="0"/>
              </a:spcBef>
              <a:spcAft>
                <a:spcPts val="0"/>
              </a:spcAft>
              <a:buSzPts val="1800"/>
              <a:buChar char="●"/>
            </a:pPr>
            <a:r>
              <a:rPr lang="fr" u="sng">
                <a:solidFill>
                  <a:schemeClr val="hlink"/>
                </a:solidFill>
                <a:hlinkClick r:id="rId6"/>
              </a:rPr>
              <a:t>https://www.imperva.com/learn/application-security/server-side-request-forgery-ssrf/</a:t>
            </a:r>
            <a:r>
              <a:rPr lang="fr"/>
              <a:t>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6"/>
          <p:cNvSpPr txBox="1"/>
          <p:nvPr>
            <p:ph type="title"/>
          </p:nvPr>
        </p:nvSpPr>
        <p:spPr>
          <a:xfrm>
            <a:off x="311700" y="445025"/>
            <a:ext cx="8520600" cy="5727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1200"/>
              </a:spcAft>
              <a:buNone/>
            </a:pPr>
            <a:r>
              <a:rPr lang="fr" sz="2600">
                <a:solidFill>
                  <a:schemeClr val="lt2"/>
                </a:solidFill>
              </a:rPr>
              <a:t>CSRF: Cross-Site Forgery Request</a:t>
            </a:r>
            <a:endParaRPr sz="2600"/>
          </a:p>
        </p:txBody>
      </p:sp>
      <p:graphicFrame>
        <p:nvGraphicFramePr>
          <p:cNvPr id="183" name="Google Shape;183;p26"/>
          <p:cNvGraphicFramePr/>
          <p:nvPr/>
        </p:nvGraphicFramePr>
        <p:xfrm>
          <a:off x="311700" y="1017725"/>
          <a:ext cx="3000000" cy="3000000"/>
        </p:xfrm>
        <a:graphic>
          <a:graphicData uri="http://schemas.openxmlformats.org/drawingml/2006/table">
            <a:tbl>
              <a:tblPr>
                <a:noFill/>
                <a:tableStyleId>{F9EBBCA4-0D90-4327-BABA-184757978243}</a:tableStyleId>
              </a:tblPr>
              <a:tblGrid>
                <a:gridCol w="2130150"/>
                <a:gridCol w="2130150"/>
                <a:gridCol w="2130150"/>
                <a:gridCol w="2130150"/>
              </a:tblGrid>
              <a:tr h="381000">
                <a:tc>
                  <a:txBody>
                    <a:bodyPr/>
                    <a:lstStyle/>
                    <a:p>
                      <a:pPr indent="0" lvl="0" marL="0" rtl="0" algn="l">
                        <a:spcBef>
                          <a:spcPts val="0"/>
                        </a:spcBef>
                        <a:spcAft>
                          <a:spcPts val="0"/>
                        </a:spcAft>
                        <a:buNone/>
                      </a:pPr>
                      <a:r>
                        <a:rPr lang="fr">
                          <a:solidFill>
                            <a:schemeClr val="dk1"/>
                          </a:solidFill>
                        </a:rPr>
                        <a:t>Description</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fr">
                          <a:solidFill>
                            <a:schemeClr val="dk1"/>
                          </a:solidFill>
                        </a:rPr>
                        <a:t>Impact</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fr">
                          <a:solidFill>
                            <a:schemeClr val="dk1"/>
                          </a:solidFill>
                        </a:rPr>
                        <a:t>Severity</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fr">
                          <a:solidFill>
                            <a:schemeClr val="dk1"/>
                          </a:solidFill>
                        </a:rPr>
                        <a:t>Score</a:t>
                      </a:r>
                      <a:endParaRPr>
                        <a:solidFill>
                          <a:schemeClr val="dk1"/>
                        </a:solidFill>
                      </a:endParaRPr>
                    </a:p>
                  </a:txBody>
                  <a:tcPr marT="91425" marB="91425" marR="91425" marL="91425"/>
                </a:tc>
              </a:tr>
              <a:tr h="381000">
                <a:tc>
                  <a:txBody>
                    <a:bodyPr/>
                    <a:lstStyle/>
                    <a:p>
                      <a:pPr indent="0" lvl="0" marL="0" rtl="0" algn="l">
                        <a:spcBef>
                          <a:spcPts val="0"/>
                        </a:spcBef>
                        <a:spcAft>
                          <a:spcPts val="0"/>
                        </a:spcAft>
                        <a:buNone/>
                      </a:pPr>
                      <a:r>
                        <a:rPr lang="fr" sz="1200">
                          <a:solidFill>
                            <a:schemeClr val="dk1"/>
                          </a:solidFill>
                        </a:rPr>
                        <a:t>Cross-Site Request Forgery (CSRF) occurs when a malicious website forces a logged-in victim’s browser to perform unintended actions on a target web application (e.g., change password, transfer money, modify settings). This happens because browsers automatically attach cookies/session tokens to requests.</a:t>
                      </a:r>
                      <a:endParaRPr sz="1200">
                        <a:solidFill>
                          <a:schemeClr val="dk1"/>
                        </a:solidFill>
                      </a:endParaRPr>
                    </a:p>
                  </a:txBody>
                  <a:tcPr marT="91425" marB="91425" marR="91425" marL="91425"/>
                </a:tc>
                <a:tc>
                  <a:txBody>
                    <a:bodyPr/>
                    <a:lstStyle/>
                    <a:p>
                      <a:pPr indent="-304800" lvl="0" marL="457200" rtl="0" algn="l">
                        <a:spcBef>
                          <a:spcPts val="0"/>
                        </a:spcBef>
                        <a:spcAft>
                          <a:spcPts val="0"/>
                        </a:spcAft>
                        <a:buClr>
                          <a:schemeClr val="dk1"/>
                        </a:buClr>
                        <a:buSzPts val="1200"/>
                        <a:buChar char="●"/>
                      </a:pPr>
                      <a:r>
                        <a:rPr lang="fr" sz="1200">
                          <a:solidFill>
                            <a:schemeClr val="dk1"/>
                          </a:solidFill>
                        </a:rPr>
                        <a:t>Unauthorized actions performed on behalf of a victim</a:t>
                      </a:r>
                      <a:endParaRPr sz="1200">
                        <a:solidFill>
                          <a:schemeClr val="dk1"/>
                        </a:solidFill>
                      </a:endParaRPr>
                    </a:p>
                    <a:p>
                      <a:pPr indent="-304800" lvl="0" marL="457200" rtl="0" algn="l">
                        <a:spcBef>
                          <a:spcPts val="0"/>
                        </a:spcBef>
                        <a:spcAft>
                          <a:spcPts val="0"/>
                        </a:spcAft>
                        <a:buClr>
                          <a:schemeClr val="dk1"/>
                        </a:buClr>
                        <a:buSzPts val="1200"/>
                        <a:buChar char="●"/>
                      </a:pPr>
                      <a:r>
                        <a:rPr lang="fr" sz="1200">
                          <a:solidFill>
                            <a:schemeClr val="dk1"/>
                          </a:solidFill>
                        </a:rPr>
                        <a:t>full account takeover if password/email change is possible</a:t>
                      </a:r>
                      <a:endParaRPr sz="1200">
                        <a:solidFill>
                          <a:schemeClr val="dk1"/>
                        </a:solidFill>
                      </a:endParaRPr>
                    </a:p>
                    <a:p>
                      <a:pPr indent="-304800" lvl="0" marL="457200" rtl="0" algn="l">
                        <a:spcBef>
                          <a:spcPts val="0"/>
                        </a:spcBef>
                        <a:spcAft>
                          <a:spcPts val="0"/>
                        </a:spcAft>
                        <a:buClr>
                          <a:schemeClr val="dk1"/>
                        </a:buClr>
                        <a:buSzPts val="1200"/>
                        <a:buChar char="●"/>
                      </a:pPr>
                      <a:r>
                        <a:rPr lang="fr" sz="1200">
                          <a:solidFill>
                            <a:schemeClr val="dk1"/>
                          </a:solidFill>
                        </a:rPr>
                        <a:t>Critical in applications lacking re-authentication for sensitive actions.</a:t>
                      </a:r>
                      <a:endParaRPr sz="1200">
                        <a:solidFill>
                          <a:schemeClr val="dk1"/>
                        </a:solidFill>
                      </a:endParaRPr>
                    </a:p>
                  </a:txBody>
                  <a:tcPr marT="91425" marB="91425" marR="91425" marL="91425"/>
                </a:tc>
                <a:tc>
                  <a:txBody>
                    <a:bodyPr/>
                    <a:lstStyle/>
                    <a:p>
                      <a:pPr indent="0" lvl="0" marL="0" rtl="0" algn="l">
                        <a:spcBef>
                          <a:spcPts val="0"/>
                        </a:spcBef>
                        <a:spcAft>
                          <a:spcPts val="0"/>
                        </a:spcAft>
                        <a:buNone/>
                      </a:pPr>
                      <a:r>
                        <a:rPr lang="fr">
                          <a:solidFill>
                            <a:srgbClr val="FF0000"/>
                          </a:solidFill>
                        </a:rPr>
                        <a:t>High</a:t>
                      </a:r>
                      <a:endParaRPr sz="1700">
                        <a:solidFill>
                          <a:srgbClr val="FF0000"/>
                        </a:solidFill>
                      </a:endParaRPr>
                    </a:p>
                  </a:txBody>
                  <a:tcPr marT="91425" marB="91425" marR="91425" marL="91425"/>
                </a:tc>
                <a:tc>
                  <a:txBody>
                    <a:bodyPr/>
                    <a:lstStyle/>
                    <a:p>
                      <a:pPr indent="0" lvl="0" marL="0" rtl="0" algn="l">
                        <a:spcBef>
                          <a:spcPts val="0"/>
                        </a:spcBef>
                        <a:spcAft>
                          <a:spcPts val="0"/>
                        </a:spcAft>
                        <a:buNone/>
                      </a:pPr>
                      <a:r>
                        <a:rPr lang="fr">
                          <a:solidFill>
                            <a:srgbClr val="FF0000"/>
                          </a:solidFill>
                        </a:rPr>
                        <a:t>7.5 – 9.0(CVSS v3.1)</a:t>
                      </a:r>
                      <a:endParaRPr>
                        <a:solidFill>
                          <a:srgbClr val="FF0000"/>
                        </a:solidFill>
                      </a:endParaRPr>
                    </a:p>
                  </a:txBody>
                  <a:tcPr marT="91425" marB="91425" marR="91425" marL="91425"/>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pic>
        <p:nvPicPr>
          <p:cNvPr id="188" name="Google Shape;188;p27"/>
          <p:cNvPicPr preferRelativeResize="0"/>
          <p:nvPr/>
        </p:nvPicPr>
        <p:blipFill>
          <a:blip r:embed="rId3">
            <a:alphaModFix/>
          </a:blip>
          <a:stretch>
            <a:fillRect/>
          </a:stretch>
        </p:blipFill>
        <p:spPr>
          <a:xfrm>
            <a:off x="111300" y="338400"/>
            <a:ext cx="8917500" cy="43695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8"/>
          <p:cNvSpPr txBox="1"/>
          <p:nvPr>
            <p:ph type="title"/>
          </p:nvPr>
        </p:nvSpPr>
        <p:spPr>
          <a:xfrm>
            <a:off x="311700" y="41825"/>
            <a:ext cx="8520600" cy="5727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fr"/>
              <a:t>Lab Explained</a:t>
            </a:r>
            <a:endParaRPr/>
          </a:p>
        </p:txBody>
      </p:sp>
      <p:sp>
        <p:nvSpPr>
          <p:cNvPr id="194" name="Google Shape;194;p28"/>
          <p:cNvSpPr txBox="1"/>
          <p:nvPr/>
        </p:nvSpPr>
        <p:spPr>
          <a:xfrm>
            <a:off x="122400" y="1994400"/>
            <a:ext cx="1303200" cy="396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fr" sz="1800">
                <a:solidFill>
                  <a:schemeClr val="dk1"/>
                </a:solidFill>
              </a:rPr>
              <a:t>/login</a:t>
            </a:r>
            <a:endParaRPr sz="1800">
              <a:solidFill>
                <a:schemeClr val="dk1"/>
              </a:solidFill>
            </a:endParaRPr>
          </a:p>
        </p:txBody>
      </p:sp>
      <p:sp>
        <p:nvSpPr>
          <p:cNvPr id="195" name="Google Shape;195;p28"/>
          <p:cNvSpPr/>
          <p:nvPr/>
        </p:nvSpPr>
        <p:spPr>
          <a:xfrm flipH="1" rot="5400000">
            <a:off x="623850" y="1204950"/>
            <a:ext cx="960000" cy="753600"/>
          </a:xfrm>
          <a:prstGeom prst="bentUpArrow">
            <a:avLst>
              <a:gd fmla="val 10324" name="adj1"/>
              <a:gd fmla="val 25000" name="adj2"/>
              <a:gd fmla="val 25000" name="adj3"/>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6" name="Google Shape;196;p28"/>
          <p:cNvSpPr/>
          <p:nvPr/>
        </p:nvSpPr>
        <p:spPr>
          <a:xfrm rot="5400000">
            <a:off x="594450" y="2483550"/>
            <a:ext cx="1018800" cy="753600"/>
          </a:xfrm>
          <a:prstGeom prst="bentUpArrow">
            <a:avLst>
              <a:gd fmla="val 10324" name="adj1"/>
              <a:gd fmla="val 25000" name="adj2"/>
              <a:gd fmla="val 25000" name="adj3"/>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7" name="Google Shape;197;p28"/>
          <p:cNvSpPr txBox="1"/>
          <p:nvPr/>
        </p:nvSpPr>
        <p:spPr>
          <a:xfrm>
            <a:off x="770250" y="751313"/>
            <a:ext cx="1144800" cy="266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fr" sz="1200">
                <a:solidFill>
                  <a:schemeClr val="dk1"/>
                </a:solidFill>
              </a:rPr>
              <a:t>User 3adi</a:t>
            </a:r>
            <a:endParaRPr sz="1200">
              <a:solidFill>
                <a:schemeClr val="dk1"/>
              </a:solidFill>
            </a:endParaRPr>
          </a:p>
        </p:txBody>
      </p:sp>
      <p:sp>
        <p:nvSpPr>
          <p:cNvPr id="198" name="Google Shape;198;p28"/>
          <p:cNvSpPr txBox="1"/>
          <p:nvPr/>
        </p:nvSpPr>
        <p:spPr>
          <a:xfrm>
            <a:off x="835200" y="3463200"/>
            <a:ext cx="1548000" cy="369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fr" sz="1200">
                <a:solidFill>
                  <a:srgbClr val="FF0000"/>
                </a:solidFill>
              </a:rPr>
              <a:t>Admin Ajmi 7tiramati n3amas</a:t>
            </a:r>
            <a:endParaRPr sz="1200">
              <a:solidFill>
                <a:srgbClr val="FF0000"/>
              </a:solidFill>
            </a:endParaRPr>
          </a:p>
        </p:txBody>
      </p:sp>
      <p:pic>
        <p:nvPicPr>
          <p:cNvPr id="199" name="Google Shape;199;p28"/>
          <p:cNvPicPr preferRelativeResize="0"/>
          <p:nvPr/>
        </p:nvPicPr>
        <p:blipFill>
          <a:blip r:embed="rId3">
            <a:alphaModFix/>
          </a:blip>
          <a:stretch>
            <a:fillRect/>
          </a:stretch>
        </p:blipFill>
        <p:spPr>
          <a:xfrm>
            <a:off x="886800" y="1602600"/>
            <a:ext cx="2382000" cy="1275725"/>
          </a:xfrm>
          <a:prstGeom prst="rect">
            <a:avLst/>
          </a:prstGeom>
          <a:noFill/>
          <a:ln>
            <a:noFill/>
          </a:ln>
        </p:spPr>
      </p:pic>
      <p:pic>
        <p:nvPicPr>
          <p:cNvPr id="200" name="Google Shape;200;p28"/>
          <p:cNvPicPr preferRelativeResize="0"/>
          <p:nvPr/>
        </p:nvPicPr>
        <p:blipFill>
          <a:blip r:embed="rId4">
            <a:alphaModFix/>
          </a:blip>
          <a:stretch>
            <a:fillRect/>
          </a:stretch>
        </p:blipFill>
        <p:spPr>
          <a:xfrm>
            <a:off x="1786800" y="2963875"/>
            <a:ext cx="677431" cy="572700"/>
          </a:xfrm>
          <a:prstGeom prst="rect">
            <a:avLst/>
          </a:prstGeom>
          <a:noFill/>
          <a:ln>
            <a:noFill/>
          </a:ln>
        </p:spPr>
      </p:pic>
      <p:pic>
        <p:nvPicPr>
          <p:cNvPr id="201" name="Google Shape;201;p28"/>
          <p:cNvPicPr preferRelativeResize="0"/>
          <p:nvPr/>
        </p:nvPicPr>
        <p:blipFill>
          <a:blip r:embed="rId5">
            <a:alphaModFix/>
          </a:blip>
          <a:stretch>
            <a:fillRect/>
          </a:stretch>
        </p:blipFill>
        <p:spPr>
          <a:xfrm>
            <a:off x="1631663" y="792550"/>
            <a:ext cx="892267" cy="669200"/>
          </a:xfrm>
          <a:prstGeom prst="rect">
            <a:avLst/>
          </a:prstGeom>
          <a:noFill/>
          <a:ln>
            <a:noFill/>
          </a:ln>
        </p:spPr>
      </p:pic>
      <p:pic>
        <p:nvPicPr>
          <p:cNvPr id="202" name="Google Shape;202;p28"/>
          <p:cNvPicPr preferRelativeResize="0"/>
          <p:nvPr/>
        </p:nvPicPr>
        <p:blipFill>
          <a:blip r:embed="rId6">
            <a:alphaModFix/>
          </a:blip>
          <a:stretch>
            <a:fillRect/>
          </a:stretch>
        </p:blipFill>
        <p:spPr>
          <a:xfrm>
            <a:off x="3730800" y="1474200"/>
            <a:ext cx="2235395" cy="1275725"/>
          </a:xfrm>
          <a:prstGeom prst="rect">
            <a:avLst/>
          </a:prstGeom>
          <a:noFill/>
          <a:ln>
            <a:noFill/>
          </a:ln>
        </p:spPr>
      </p:pic>
      <p:sp>
        <p:nvSpPr>
          <p:cNvPr id="203" name="Google Shape;203;p28"/>
          <p:cNvSpPr/>
          <p:nvPr/>
        </p:nvSpPr>
        <p:spPr>
          <a:xfrm>
            <a:off x="2588725" y="2761200"/>
            <a:ext cx="2131200" cy="572700"/>
          </a:xfrm>
          <a:prstGeom prst="bentUpArrow">
            <a:avLst>
              <a:gd fmla="val 10110" name="adj1"/>
              <a:gd fmla="val 25000" name="adj2"/>
              <a:gd fmla="val 25000" name="adj3"/>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4" name="Google Shape;204;p28"/>
          <p:cNvSpPr/>
          <p:nvPr/>
        </p:nvSpPr>
        <p:spPr>
          <a:xfrm flipH="1" rot="10800000">
            <a:off x="2674950" y="1093657"/>
            <a:ext cx="2131200" cy="369300"/>
          </a:xfrm>
          <a:prstGeom prst="bentUpArrow">
            <a:avLst>
              <a:gd fmla="val 10110" name="adj1"/>
              <a:gd fmla="val 25000" name="adj2"/>
              <a:gd fmla="val 25000" name="adj3"/>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5" name="Google Shape;205;p28"/>
          <p:cNvSpPr/>
          <p:nvPr/>
        </p:nvSpPr>
        <p:spPr>
          <a:xfrm>
            <a:off x="3520950" y="840800"/>
            <a:ext cx="439200" cy="572700"/>
          </a:xfrm>
          <a:prstGeom prst="mathMultiply">
            <a:avLst>
              <a:gd fmla="val 23520" name="adj1"/>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6" name="Google Shape;206;p28"/>
          <p:cNvSpPr txBox="1"/>
          <p:nvPr/>
        </p:nvSpPr>
        <p:spPr>
          <a:xfrm>
            <a:off x="2592000" y="568800"/>
            <a:ext cx="1418400" cy="266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fr" sz="1200">
                <a:solidFill>
                  <a:schemeClr val="dk1"/>
                </a:solidFill>
              </a:rPr>
              <a:t>Ma3ndkch l79, kol lf9ass o hnina</a:t>
            </a:r>
            <a:endParaRPr sz="1200">
              <a:solidFill>
                <a:schemeClr val="dk1"/>
              </a:solidFill>
            </a:endParaRPr>
          </a:p>
        </p:txBody>
      </p:sp>
      <p:pic>
        <p:nvPicPr>
          <p:cNvPr id="207" name="Google Shape;207;p28"/>
          <p:cNvPicPr preferRelativeResize="0"/>
          <p:nvPr/>
        </p:nvPicPr>
        <p:blipFill>
          <a:blip r:embed="rId7">
            <a:alphaModFix/>
          </a:blip>
          <a:stretch>
            <a:fillRect/>
          </a:stretch>
        </p:blipFill>
        <p:spPr>
          <a:xfrm>
            <a:off x="7804800" y="3680950"/>
            <a:ext cx="1074900" cy="952734"/>
          </a:xfrm>
          <a:prstGeom prst="rect">
            <a:avLst/>
          </a:prstGeom>
          <a:noFill/>
          <a:ln>
            <a:noFill/>
          </a:ln>
        </p:spPr>
      </p:pic>
      <p:pic>
        <p:nvPicPr>
          <p:cNvPr id="208" name="Google Shape;208;p28"/>
          <p:cNvPicPr preferRelativeResize="0"/>
          <p:nvPr/>
        </p:nvPicPr>
        <p:blipFill>
          <a:blip r:embed="rId8">
            <a:alphaModFix/>
          </a:blip>
          <a:stretch>
            <a:fillRect/>
          </a:stretch>
        </p:blipFill>
        <p:spPr>
          <a:xfrm>
            <a:off x="3520950" y="3761875"/>
            <a:ext cx="3268175" cy="871800"/>
          </a:xfrm>
          <a:prstGeom prst="rect">
            <a:avLst/>
          </a:prstGeom>
          <a:noFill/>
          <a:ln>
            <a:noFill/>
          </a:ln>
        </p:spPr>
      </p:pic>
      <p:sp>
        <p:nvSpPr>
          <p:cNvPr id="209" name="Google Shape;209;p28"/>
          <p:cNvSpPr/>
          <p:nvPr/>
        </p:nvSpPr>
        <p:spPr>
          <a:xfrm rot="10800000">
            <a:off x="6789125" y="4046400"/>
            <a:ext cx="979800" cy="122400"/>
          </a:xfrm>
          <a:prstGeom prst="rightArrow">
            <a:avLst>
              <a:gd fmla="val 50000" name="adj1"/>
              <a:gd fmla="val 50000" name="adj2"/>
            </a:avLst>
          </a:prstGeom>
          <a:solidFill>
            <a:srgbClr val="99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0" name="Google Shape;210;p28"/>
          <p:cNvSpPr/>
          <p:nvPr/>
        </p:nvSpPr>
        <p:spPr>
          <a:xfrm flipH="1">
            <a:off x="2109600" y="3728575"/>
            <a:ext cx="1418400" cy="572700"/>
          </a:xfrm>
          <a:prstGeom prst="bentUpArrow">
            <a:avLst>
              <a:gd fmla="val 11817" name="adj1"/>
              <a:gd fmla="val 25000" name="adj2"/>
              <a:gd fmla="val 27837" name="adj3"/>
            </a:avLst>
          </a:prstGeom>
          <a:solidFill>
            <a:srgbClr val="99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1" name="Google Shape;211;p28"/>
          <p:cNvSpPr txBox="1"/>
          <p:nvPr/>
        </p:nvSpPr>
        <p:spPr>
          <a:xfrm>
            <a:off x="1483200" y="4406400"/>
            <a:ext cx="1584000" cy="369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fr" sz="1200">
                <a:solidFill>
                  <a:srgbClr val="9900FF"/>
                </a:solidFill>
              </a:rPr>
              <a:t>3tini cookiz diyalk a3mi nbdl price</a:t>
            </a:r>
            <a:endParaRPr sz="1200">
              <a:solidFill>
                <a:srgbClr val="9900FF"/>
              </a:solidFill>
            </a:endParaRPr>
          </a:p>
        </p:txBody>
      </p:sp>
      <p:sp>
        <p:nvSpPr>
          <p:cNvPr id="212" name="Google Shape;212;p28"/>
          <p:cNvSpPr/>
          <p:nvPr/>
        </p:nvSpPr>
        <p:spPr>
          <a:xfrm flipH="1" rot="10800000">
            <a:off x="6069600" y="2044108"/>
            <a:ext cx="2304000" cy="572700"/>
          </a:xfrm>
          <a:prstGeom prst="bentUpArrow">
            <a:avLst>
              <a:gd fmla="val 12693" name="adj1"/>
              <a:gd fmla="val 25000" name="adj2"/>
              <a:gd fmla="val 25000" name="adj3"/>
            </a:avLst>
          </a:prstGeom>
          <a:solidFill>
            <a:srgbClr val="99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3" name="Google Shape;213;p28"/>
          <p:cNvSpPr txBox="1"/>
          <p:nvPr/>
        </p:nvSpPr>
        <p:spPr>
          <a:xfrm>
            <a:off x="7020000" y="2664000"/>
            <a:ext cx="1548000" cy="458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fr" sz="1200">
                <a:solidFill>
                  <a:srgbClr val="9900FF"/>
                </a:solidFill>
              </a:rPr>
              <a:t>hihi bdlt l price, lhack okda ajmi</a:t>
            </a:r>
            <a:endParaRPr sz="1200">
              <a:solidFill>
                <a:srgbClr val="9900FF"/>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1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1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CSFR - References</a:t>
            </a:r>
            <a:endParaRPr/>
          </a:p>
        </p:txBody>
      </p:sp>
      <p:sp>
        <p:nvSpPr>
          <p:cNvPr id="219" name="Google Shape;219;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fr" u="sng">
                <a:solidFill>
                  <a:schemeClr val="hlink"/>
                </a:solidFill>
                <a:hlinkClick r:id="rId3"/>
              </a:rPr>
              <a:t>https://owasp.org/www-community/attacks/csrf</a:t>
            </a:r>
            <a:r>
              <a:rPr lang="fr"/>
              <a:t> </a:t>
            </a:r>
            <a:endParaRPr/>
          </a:p>
          <a:p>
            <a:pPr indent="-342900" lvl="0" marL="457200" rtl="0" algn="l">
              <a:spcBef>
                <a:spcPts val="0"/>
              </a:spcBef>
              <a:spcAft>
                <a:spcPts val="0"/>
              </a:spcAft>
              <a:buSzPts val="1800"/>
              <a:buChar char="●"/>
            </a:pPr>
            <a:r>
              <a:rPr lang="fr" u="sng">
                <a:solidFill>
                  <a:schemeClr val="hlink"/>
                </a:solidFill>
                <a:hlinkClick r:id="rId4"/>
              </a:rPr>
              <a:t>https://portswigger.net/web-security/csrf</a:t>
            </a:r>
            <a:r>
              <a:rPr lang="fr"/>
              <a:t> </a:t>
            </a:r>
            <a:endParaRPr/>
          </a:p>
          <a:p>
            <a:pPr indent="-342900" lvl="0" marL="457200" rtl="0" algn="l">
              <a:spcBef>
                <a:spcPts val="0"/>
              </a:spcBef>
              <a:spcAft>
                <a:spcPts val="0"/>
              </a:spcAft>
              <a:buSzPts val="1800"/>
              <a:buChar char="●"/>
            </a:pPr>
            <a:r>
              <a:rPr lang="fr" u="sng">
                <a:solidFill>
                  <a:schemeClr val="hlink"/>
                </a:solidFill>
                <a:hlinkClick r:id="rId5"/>
              </a:rPr>
              <a:t>https://csrc.nist.gov/glossary/term/cross_site_request_forgery</a:t>
            </a:r>
            <a:r>
              <a:rPr lang="fr"/>
              <a:t> </a:t>
            </a:r>
            <a:endParaRPr/>
          </a:p>
          <a:p>
            <a:pPr indent="-342900" lvl="0" marL="457200" rtl="0" algn="l">
              <a:spcBef>
                <a:spcPts val="0"/>
              </a:spcBef>
              <a:spcAft>
                <a:spcPts val="0"/>
              </a:spcAft>
              <a:buSzPts val="1800"/>
              <a:buChar char="●"/>
            </a:pPr>
            <a:r>
              <a:rPr lang="fr" u="sng">
                <a:solidFill>
                  <a:schemeClr val="hlink"/>
                </a:solidFill>
                <a:hlinkClick r:id="rId6"/>
              </a:rPr>
              <a:t>https://developer.mozilla.org/en-US/docs/Web/Security/Attacks/CSRF</a:t>
            </a:r>
            <a:r>
              <a:rPr lang="fr"/>
              <a:t> </a:t>
            </a:r>
            <a:endParaRPr/>
          </a:p>
          <a:p>
            <a:pPr indent="-342900" lvl="0" marL="457200" rtl="0" algn="l">
              <a:spcBef>
                <a:spcPts val="0"/>
              </a:spcBef>
              <a:spcAft>
                <a:spcPts val="0"/>
              </a:spcAft>
              <a:buSzPts val="1800"/>
              <a:buChar char="●"/>
            </a:pPr>
            <a:r>
              <a:rPr lang="fr" u="sng">
                <a:solidFill>
                  <a:schemeClr val="hlink"/>
                </a:solidFill>
                <a:hlinkClick r:id="rId7"/>
              </a:rPr>
              <a:t>https://docs.spring.io/spring-security/reference/features/exploits/csrf.html</a:t>
            </a:r>
            <a:r>
              <a:rPr lang="fr"/>
              <a:t>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30"/>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fr"/>
              <a:t>MIRGHSI</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Dark">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